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0639be9-0225-74a3-e90c-72a69f9d7a55}">
          <p14:sldIdLst>
            <p14:sldId id="256"/>
          </p14:sldIdLst>
        </p14:section>
        <p14:section name="Contexto" id="{a28539a5-8f23-5e63-74b9-9b670cf2ba57}">
          <p14:sldIdLst>
            <p14:sldId id="257"/>
            <p14:sldId id="258"/>
          </p14:sldIdLst>
        </p14:section>
        <p14:section name="Insights" id="{957d0d4a-fcb3-591e-ca86-35664bb3ae5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odelo" id="{a39c0f97-788d-c7cf-350f-6bb0d499ea09}">
          <p14:sldIdLst>
            <p14:sldId id="266"/>
            <p14:sldId id="267"/>
            <p14:sldId id="268"/>
          </p14:sldIdLst>
        </p14:section>
        <p14:section name="Recomendações" id="{746b0c4a-e9e1-afc4-542f-6864c6ec715a}">
          <p14:sldIdLst>
            <p14:sldId id="269"/>
            <p14:sldId id="270"/>
          </p14:sldIdLst>
        </p14:section>
        <p14:section name="Encerramento" id="{7c2d611c-a30f-cc07-7eaf-849c7cf5ac08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Força da relação com a nota (0 = nenhuma, 1 =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Fatores-chave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Tempo de entrega total</c:v>
                  </c:pt>
                  <c:pt idx="1">
                    <c:v>Idade do cliente</c:v>
                  </c:pt>
                  <c:pt idx="2">
                    <c:v>Desconto</c:v>
                  </c:pt>
                  <c:pt idx="3">
                    <c:v>Tempo de casa</c:v>
                  </c:pt>
                  <c:pt idx="4">
                    <c:v>Nº de parcelas</c:v>
                  </c:pt>
                  <c:pt idx="5">
                    <c:v>Tentativas de entrega</c:v>
                  </c:pt>
                  <c:pt idx="6">
                    <c:v>Valor do pedido</c:v>
                  </c:pt>
                  <c:pt idx="7">
                    <c:v>Frete</c:v>
                  </c:pt>
                  <c:pt idx="8">
                    <c:v>Tempo de resolução</c:v>
                  </c:pt>
                  <c:pt idx="9">
                    <c:v>Contatos com o SAC</c:v>
                  </c:pt>
                  <c:pt idx="10">
                    <c:v>Nº de reclamações</c:v>
                  </c:pt>
                  <c:pt idx="11">
                    <c:v>Atraso na entrega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0.19</c:v>
                </c:pt>
                <c:pt idx="9">
                  <c:v>0.34</c:v>
                </c:pt>
                <c:pt idx="10">
                  <c:v>0.49</c:v>
                </c:pt>
                <c:pt idx="11">
                  <c:v>0.59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Demais</c:v>
                </c:pt>
              </c:strCache>
            </c:strRef>
          </c:tx>
          <c:spPr>
            <a:solidFill>
              <a:srgbClr val="D9D8D4"/>
            </a:solidFill>
            <a:effectLst/>
          </c:spPr>
          <c:invertIfNegative val="0"/>
          <c:dLbls>
            <c:numFmt formatCode="[&lt;0.1]&quot;&quot;;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Tempo de entrega total</c:v>
                  </c:pt>
                  <c:pt idx="1">
                    <c:v>Idade do cliente</c:v>
                  </c:pt>
                  <c:pt idx="2">
                    <c:v>Desconto</c:v>
                  </c:pt>
                  <c:pt idx="3">
                    <c:v>Tempo de casa</c:v>
                  </c:pt>
                  <c:pt idx="4">
                    <c:v>Nº de parcelas</c:v>
                  </c:pt>
                  <c:pt idx="5">
                    <c:v>Tentativas de entrega</c:v>
                  </c:pt>
                  <c:pt idx="6">
                    <c:v>Valor do pedido</c:v>
                  </c:pt>
                  <c:pt idx="7">
                    <c:v>Frete</c:v>
                  </c:pt>
                  <c:pt idx="8">
                    <c:v>Tempo de resolução</c:v>
                  </c:pt>
                  <c:pt idx="9">
                    <c:v>Contatos com o SAC</c:v>
                  </c:pt>
                  <c:pt idx="10">
                    <c:v>Nº de reclamações</c:v>
                  </c:pt>
                  <c:pt idx="11">
                    <c:v>Atraso na entrega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0.03</c:v>
                </c:pt>
                <c:pt idx="5">
                  <c:v>0.03</c:v>
                </c:pt>
                <c:pt idx="6">
                  <c:v>0.04</c:v>
                </c:pt>
                <c:pt idx="7">
                  <c:v>0.04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[&lt;0.1]&quot;&quot;;0.0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% de clientes detratores por dias de atraso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prazo</c:v>
                  </c:pt>
                  <c:pt idx="1">
                    <c:v>1 dia</c:v>
                  </c:pt>
                  <c:pt idx="2">
                    <c:v>2 dias</c:v>
                  </c:pt>
                  <c:pt idx="3">
                    <c:v>3 dias</c:v>
                  </c:pt>
                  <c:pt idx="4">
                    <c:v>4+ dias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atraso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prazo</c:v>
                  </c:pt>
                  <c:pt idx="1">
                    <c:v>1 dia</c:v>
                  </c:pt>
                  <c:pt idx="2">
                    <c:v>2 dias</c:v>
                  </c:pt>
                  <c:pt idx="3">
                    <c:v>3 dias</c:v>
                  </c:pt>
                  <c:pt idx="4">
                    <c:v>4+ dias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74</c:v>
                </c:pt>
                <c:pt idx="2">
                  <c:v>88</c:v>
                </c:pt>
                <c:pt idx="3">
                  <c:v>97</c:v>
                </c:pt>
                <c:pt idx="4">
                  <c:v>99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5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5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Nota média por tempo TOTAL de entrega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 média</c:v>
                </c:pt>
              </c:strCache>
            </c:strRef>
          </c:tx>
          <c:spPr>
            <a:solidFill>
              <a:srgbClr val="B5B3A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2-4 dias</c:v>
                  </c:pt>
                  <c:pt idx="1">
                    <c:v>5-7 dias</c:v>
                  </c:pt>
                  <c:pt idx="2">
                    <c:v>8-10 dias</c:v>
                  </c:pt>
                  <c:pt idx="3">
                    <c:v>11-14 dias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4.5</c:v>
                </c:pt>
                <c:pt idx="2">
                  <c:v>4.5</c:v>
                </c:pt>
                <c:pt idx="3">
                  <c:v>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E6E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Nota média por ATRASO sobre o prometido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prazo</c:v>
                  </c:pt>
                  <c:pt idx="1">
                    <c:v>1 dia</c:v>
                  </c:pt>
                  <c:pt idx="2">
                    <c:v>2 dias</c:v>
                  </c:pt>
                  <c:pt idx="3">
                    <c:v>3 dias</c:v>
                  </c:pt>
                  <c:pt idx="4">
                    <c:v>4+ dias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atraso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prazo</c:v>
                  </c:pt>
                  <c:pt idx="1">
                    <c:v>1 dia</c:v>
                  </c:pt>
                  <c:pt idx="2">
                    <c:v>2 dias</c:v>
                  </c:pt>
                  <c:pt idx="3">
                    <c:v>3 dias</c:v>
                  </c:pt>
                  <c:pt idx="4">
                    <c:v>4+ dias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5.5</c:v>
                </c:pt>
                <c:pt idx="2">
                  <c:v>4.6</c:v>
                </c:pt>
                <c:pt idx="3">
                  <c:v>3.4</c:v>
                </c:pt>
                <c:pt idx="4">
                  <c:v>2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E6E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% de detratores por nº de reclamações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Até 1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ou mais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65</c:v>
                </c:pt>
                <c:pt idx="2">
                  <c:v>82</c:v>
                </c:pt>
                <c:pt idx="3">
                  <c:v>90</c:v>
                </c:pt>
                <c:pt idx="4">
                  <c:v>95</c:v>
                </c:pt>
                <c:pt idx="5">
                  <c:v>98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5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% de detratores por contatos com o SAC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Nenhum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ou mais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84</c:v>
                </c:pt>
                <c:pt idx="2">
                  <c:v>89</c:v>
                </c:pt>
                <c:pt idx="3">
                  <c:v>93</c:v>
                </c:pt>
                <c:pt idx="4">
                  <c:v>98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5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Composição do NPS por tipo de jornada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Detrator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[&lt;6]&quot;&quot;;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Sem atritos (3% dos pedidos)</c:v>
                  </c:pt>
                  <c:pt idx="1">
                    <c:v>Demais pedidos</c:v>
                  </c:pt>
                  <c:pt idx="2">
                    <c:v>Atraso de 3+ dias (38%)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79</c:v>
                </c:pt>
                <c:pt idx="2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Neutro</c:v>
                </c:pt>
              </c:strCache>
            </c:strRef>
          </c:tx>
          <c:spPr>
            <a:solidFill>
              <a:srgbClr val="B5B3AD"/>
            </a:solidFill>
            <a:effectLst/>
          </c:spPr>
          <c:invertIfNegative val="0"/>
          <c:dLbls>
            <c:numFmt formatCode="[&lt;6]&quot;&quot;;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Sem atritos (3% dos pedidos)</c:v>
                  </c:pt>
                  <c:pt idx="1">
                    <c:v>Demais pedidos</c:v>
                  </c:pt>
                  <c:pt idx="2">
                    <c:v>Atraso de 3+ dias (38%)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</c:v>
                </c:pt>
                <c:pt idx="1">
                  <c:v>16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[&lt;6]&quot;&quot;;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Sem atritos (3% dos pedidos)</c:v>
                  </c:pt>
                  <c:pt idx="1">
                    <c:v>Demais pedidos</c:v>
                  </c:pt>
                  <c:pt idx="2">
                    <c:v>Atraso de 3+ dias (38%)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34</c:v>
                </c:pt>
                <c:pt idx="1">
                  <c:v>5</c:v>
                </c:pt>
                <c:pt idx="2">
                  <c:v>0</c:v>
                </c:pt>
              </c:numCache>
            </c:numRef>
          </c:val>
        </c:ser>
        <c:dLbls>
          <c:numFmt formatCode="[&lt;6]&quot;&quot;;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1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% que de fato virou detrator (pedidos de teste)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Alto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Risco alto</c:v>
                  </c:pt>
                  <c:pt idx="1">
                    <c:v>Risco moderado</c:v>
                  </c:pt>
                  <c:pt idx="2">
                    <c:v>Risco baixo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Moderado</c:v>
                </c:pt>
              </c:strCache>
            </c:strRef>
          </c:tx>
          <c:spPr>
            <a:solidFill>
              <a:srgbClr val="F0A2A1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Risco alto</c:v>
                  </c:pt>
                  <c:pt idx="1">
                    <c:v>Risco moderado</c:v>
                  </c:pt>
                  <c:pt idx="2">
                    <c:v>Risco baixo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82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Baixo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Risco alto</c:v>
                  </c:pt>
                  <c:pt idx="1">
                    <c:v>Risco moderado</c:v>
                  </c:pt>
                  <c:pt idx="2">
                    <c:v>Risco baixo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32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6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5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+mn-lt"/>
              </a:rPr>
              <a:t>Ganho estimado de NPS (pontos) por cenário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Isolado</c:v>
                </c:pt>
              </c:strCache>
            </c:strRef>
          </c:tx>
          <c:spPr>
            <a:solidFill>
              <a:srgbClr val="B5B3AD"/>
            </a:solidFill>
            <a:effectLst/>
          </c:spPr>
          <c:invertIfNegative val="0"/>
          <c:dLbls>
            <c:numFmt formatCode="[&lt;3]&quot;&quot;;&quot;+&quot;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Resolver com até 1 contato (+2)</c:v>
                  </c:pt>
                  <c:pt idx="1">
                    <c:v>Resolução em até 2 dias</c:v>
                  </c:pt>
                  <c:pt idx="2">
                    <c:v>Atraso máximo de 1 dia</c:v>
                  </c:pt>
                  <c:pt idx="3">
                    <c:v>Combinado (os três)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6.6</c:v>
                </c:pt>
                <c:pt idx="2">
                  <c:v>11.1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Combinado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[&lt;3]&quot;&quot;;&quot;+&quot;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Resolver com até 1 contato (+2)</c:v>
                  </c:pt>
                  <c:pt idx="1">
                    <c:v>Resolução em até 2 dias</c:v>
                  </c:pt>
                  <c:pt idx="2">
                    <c:v>Atraso máximo de 1 dia</c:v>
                  </c:pt>
                  <c:pt idx="3">
                    <c:v>Combinado (os três)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25.2</c:v>
                </c:pt>
              </c:numCache>
            </c:numRef>
          </c:val>
        </c:ser>
        <c:dLbls>
          <c:numFmt formatCode="[&lt;3]&quot;&quot;;&quot;+&quot;0" sourceLinked="0"/>
          <c:txPr>
            <a:bodyPr/>
            <a:lstStyle/>
            <a:p>
              <a:pPr>
                <a:defRPr b="1" i="0" strike="noStrike" sz="15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6E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1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Hoje vou mostrar o que os dados operacionais dizem sobre a satisfação dos nossos clientes e como podemos agir antes que um cliente vire detrator.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e-commerce cresceu e a experiência ficou desigual. O NPS é coletado só no fim da jornada: quando a nota chega, o atraso e as reclamações já aconteceram. Na base analisada, de 2.500 pedidos, o NPS é -80, com margem de erro de cerca de 2 pontos, e 84% dos clientes são detratores. O problema é estrutural, não exceção.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perguntas: a de negócio, sobre o que move a satisfação, e a do modelo, sobre prever a nota de cada pedido enquanto ainda dá tempo de agir.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Olhando todas as variáveis, só quatro têm relação forte com a nota: atraso na entrega, número de reclamações, contatos com o SAC e tempo de resolução. Valor do pedido, frete, desconto e perfil do cliente praticamente não importam.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principal achado. Pedido entregue no prazo tem nota média 6,9. Com um dia de atraso, 74% já são detratores. A partir de três dias, praticamente todos. O atraso não é um incômodo gradual: o primeiro dia já quebra a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achado contraintuitivo: o tempo total de entrega não muda a nota. O que derruba a nota é o atraso em relação ao prometido. Ou seja, prometer prazos realistas, com folga, pode reduzir atrasos percebidos sem precisar acelerar 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atendimento, o segundo ponto de ruptura é a segunda reclamação: com até uma, a nota média fica perto de 8; com duas, 65% já são detratores. Cada contato adicional com o SAC piora o quadro, porque significa que o problema não foi resolvido de primeira.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problemas se somam. No canto 'no prazo e sem reclamação' a nota é cerca de 8; no canto oposto, cerca de 1. E um ponto de esperança: pedidos com 1 dia de atraso que não viraram reclamação ainda têm nota 8. Comunicar o atraso antes que o cliente precise reclamar preserva a satisfação.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tipo de cliente tem NPS mais alto? A resposta é: não é o perfil, é a experiência. Entre regiões, idades e faixas de valor a nota média quase não muda. Já a jornada muda tudo: pedidos sem atritos têm 34% de promotores; pedidos com 3 ou mais dias de atraso praticamente não geram promotores. Hoje, só 3% dos pedidos têm a jornada sem atritos.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Traduzindo em números: cada dia de atraso custa quase 1 ponto na nota; cada reclamação, 0,4; cada contato extra com o SAC, 0,35; cada dia para resolver, 0,14. E o que é tão importante quanto: frete, desconto e valor do pedido não movem a nota. Não adianta tentar comprar satisfação com cupom.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sabemos o que gera detratores, podemos prever quem está a caminho de virar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funciona: a cada evento do pedido, o modelo recalcula a nota esperada e classifica o pedido em risco alto, moderado ou baixo. O erro médio é de 1,4 ponto na escala de 0 a 10, e todos os pedidos que ele marcou como risco alto de fato viraram detratores. Importante: não usamos dados que só existem depois da pesquisa, como CSAT e recompra, para o modelo funcionar de verdade no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Testamos o modelo em 500 pedidos que ele nunca tinha visto. Na faixa de risco alto, 100% viraram detratores. Na de risco baixo, só 32%, e 30% viraram promotores. Cada faixa tem uma ação: contato humano no risco alto, automação no moderado, e convite para indicação no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recomendações se organizam em duas ideias: cumprir a promessa de entrega e evitar o segundo atrito. Na logística: prazos realistas, alerta antes de vencer e prioridade para quem já atrasou. No atendimento: falar com o cliente no primeiro dia de atraso, antes da reclamação, e resolver no primeiro contato. Em CX e dados: painel de NPS previsto e testes com grupo de controle. No comercial: não usar desconto como remédio, porque os dados mostram que não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Simulamos o impacto: limitar o atraso a no máximo 1 dia vale cerca de 11 pontos de NPS; resolver em até 2 dias, cerca de 7; combinando logística e atendimento, cerca de 25 pontos. O NPS ainda ficaria negativo, o que mostra que é um programa contínuo, não uma ação pontual. Propomos começar por ganhos rápidos em 30 dias, um piloto com grupo de controle até 90 dias e depois escalar.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Limitações: os dados mostram associação, não causa, por isso recomendamos testar com grupo de controle. O modelo é um alerta e explica cerca de metade da variação. Faltam dados como data, produto e transportadora. E dois cuidados de uso: não transformar o NPS em meta individual e usar a previsão para cuidar melhor do cliente, nunca para tratá-lo pior.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 em três frases: o atraso é o fator número um e o primeiro dia já quebra a confiança; a segunda reclamação é o segundo ponto de ruptura; e com o NPS previsto conseguimos agir antes da pesquisa, priorizando quem está em risco.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</a:rPr>
              <a:t>Case Preditivo de NPS · Tech Challenge Fase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retrovisor ao para-brisa: antecipando a satisfação do cliente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Case Preditivo de NPS · O que realmente move a nota e como agir antes da pesquisa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Fritsch Walendorff e Chrystopher Alves  ·  Pós Tech IA para Cientistas de Dados  ·  Tech Challenge Fase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NPS chega tarde demais para salvar a experiência</a:t>
            </a:r>
            <a:endParaRPr lang="en-US" sz="3000" dirty="0"/>
          </a:p>
        </p:txBody>
      </p:sp>
      <p:sp>
        <p:nvSpPr>
          <p:cNvPr id="3" name="etapa_0"/>
          <p:cNvSpPr/>
          <p:nvPr/>
        </p:nvSpPr>
        <p:spPr>
          <a:xfrm>
            <a:off x="548640" y="16002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700" dirty="0"/>
          </a:p>
        </p:txBody>
      </p:sp>
      <p:sp>
        <p:nvSpPr>
          <p:cNvPr id="5" name="seta"/>
          <p:cNvSpPr/>
          <p:nvPr/>
        </p:nvSpPr>
        <p:spPr>
          <a:xfrm rot="5400000">
            <a:off x="2962656" y="1828800"/>
            <a:ext cx="164592" cy="228600"/>
          </a:xfrm>
          <a:prstGeom prst="rtTriangle">
            <a:avLst/>
          </a:prstGeom>
          <a:solidFill>
            <a:srgbClr val="8A8780"/>
          </a:solidFill>
          <a:ln/>
        </p:spPr>
      </p:sp>
      <p:sp>
        <p:nvSpPr>
          <p:cNvPr id="6" name="etapa_1"/>
          <p:cNvSpPr/>
          <p:nvPr/>
        </p:nvSpPr>
        <p:spPr>
          <a:xfrm>
            <a:off x="3200400" y="16002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600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700" dirty="0"/>
          </a:p>
        </p:txBody>
      </p:sp>
      <p:sp>
        <p:nvSpPr>
          <p:cNvPr id="8" name="seta"/>
          <p:cNvSpPr/>
          <p:nvPr/>
        </p:nvSpPr>
        <p:spPr>
          <a:xfrm rot="5400000">
            <a:off x="5614416" y="1828800"/>
            <a:ext cx="164592" cy="228600"/>
          </a:xfrm>
          <a:prstGeom prst="rtTriangle">
            <a:avLst/>
          </a:prstGeom>
          <a:solidFill>
            <a:srgbClr val="8A8780"/>
          </a:solidFill>
          <a:ln/>
        </p:spPr>
      </p:sp>
      <p:sp>
        <p:nvSpPr>
          <p:cNvPr id="9" name="etapa_2"/>
          <p:cNvSpPr/>
          <p:nvPr/>
        </p:nvSpPr>
        <p:spPr>
          <a:xfrm>
            <a:off x="5852160" y="16002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1600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700" dirty="0"/>
          </a:p>
        </p:txBody>
      </p:sp>
      <p:sp>
        <p:nvSpPr>
          <p:cNvPr id="11" name="seta"/>
          <p:cNvSpPr/>
          <p:nvPr/>
        </p:nvSpPr>
        <p:spPr>
          <a:xfrm rot="5400000">
            <a:off x="8266176" y="1828800"/>
            <a:ext cx="164592" cy="228600"/>
          </a:xfrm>
          <a:prstGeom prst="rtTriangle">
            <a:avLst/>
          </a:prstGeom>
          <a:solidFill>
            <a:srgbClr val="8A8780"/>
          </a:solidFill>
          <a:ln/>
        </p:spPr>
      </p:sp>
      <p:sp>
        <p:nvSpPr>
          <p:cNvPr id="12" name="etapa_3"/>
          <p:cNvSpPr/>
          <p:nvPr/>
        </p:nvSpPr>
        <p:spPr>
          <a:xfrm>
            <a:off x="8503920" y="16002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E349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1600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NPS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agir aqui: os sinais já existem durante a jornada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423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medimos só aqui, quando já é tarde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2.500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analisados, com dados de pedido, logística e atendimento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246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−80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NPS da base (margem de erro: −82 a −78): 19 detratores para cada promotor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246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terminam a jornada como detratores (nota abaixo de 7)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crescimento acelerado, a experiência ficou desigual: clientes com operações parecidas viram promotores ou detratores. Em um e-commerce, trocar de loja custa um clique.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perguntas guiaram o trabalho</a:t>
            </a:r>
            <a:endParaRPr lang="en-US" sz="3000" dirty="0"/>
          </a:p>
        </p:txBody>
      </p:sp>
      <p:sp>
        <p:nvSpPr>
          <p:cNvPr id="3" name="card_pergunta_negocio"/>
          <p:cNvSpPr/>
          <p:nvPr/>
        </p:nvSpPr>
        <p:spPr>
          <a:xfrm>
            <a:off x="548640" y="15087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3F5"/>
          </a:solidFill>
          <a:ln/>
        </p:spPr>
      </p:sp>
      <p:sp>
        <p:nvSpPr>
          <p:cNvPr id="4" name="badge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DE NEGÓCIO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fatores operacionais realmente influenciam a satisfação do cliente e como agir de forma proativa, antes da pesquisa de NPS?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983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análise exploratória dos dados</a:t>
            </a:r>
            <a:endParaRPr lang="en-US" sz="1500" dirty="0"/>
          </a:p>
        </p:txBody>
      </p:sp>
      <p:sp>
        <p:nvSpPr>
          <p:cNvPr id="9" name="card_pergunta_modelo"/>
          <p:cNvSpPr/>
          <p:nvPr/>
        </p:nvSpPr>
        <p:spPr>
          <a:xfrm>
            <a:off x="6263640" y="150876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213D"/>
          </a:solidFill>
          <a:ln/>
        </p:spPr>
      </p:sp>
      <p:sp>
        <p:nvSpPr>
          <p:cNvPr id="10" name="badge"/>
          <p:cNvSpPr/>
          <p:nvPr/>
        </p:nvSpPr>
        <p:spPr>
          <a:xfrm>
            <a:off x="6629400" y="1828800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DO MODELO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0604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que já sabemos sobre este pedido hoje, qual nota esse cliente tende a dar e ele precisa de uma ação agora?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983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modelo preditivo + faixas de risco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fatores explicam a satisfação e o atraso lidera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_pesam"/>
          <p:cNvSpPr/>
          <p:nvPr/>
        </p:nvSpPr>
        <p:spPr>
          <a:xfrm>
            <a:off x="7863840" y="1463040"/>
            <a:ext cx="3776472" cy="2240280"/>
          </a:xfrm>
          <a:prstGeom prst="roundRect">
            <a:avLst>
              <a:gd name="adj" fmla="val 4898"/>
            </a:avLst>
          </a:prstGeom>
          <a:solidFill>
            <a:srgbClr val="F2F3F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pesa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03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na entrega e a experiência com o atendimento: reclamações, contatos e tempo de resolução.</a:t>
            </a:r>
            <a:endParaRPr lang="en-US" sz="1600" dirty="0"/>
          </a:p>
        </p:txBody>
      </p:sp>
      <p:sp>
        <p:nvSpPr>
          <p:cNvPr id="7" name="card_nao_pesam"/>
          <p:cNvSpPr/>
          <p:nvPr/>
        </p:nvSpPr>
        <p:spPr>
          <a:xfrm>
            <a:off x="7863840" y="3931920"/>
            <a:ext cx="3776472" cy="2240280"/>
          </a:xfrm>
          <a:prstGeom prst="roundRect">
            <a:avLst>
              <a:gd name="adj" fmla="val 4898"/>
            </a:avLst>
          </a:prstGeom>
          <a:solidFill>
            <a:srgbClr val="F2F3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3816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pesa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Frete, desconto, valor, parcelas, tentativas de entrega, região, idade e tempo de casa.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1º dia de atraso é o ponto de ruptura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01000" y="1508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00100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média de quem recebe no prazo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3108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 ponto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nota a cada dia de atraso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4709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5440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detratores com 3 dias ou mais de atraso: a recuperação fica quase impossível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aceita esperar, mas não aceita a promessa quebrada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4173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_insight_prazo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2F3F5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em 12 dias dentro do prazo satisfaz tanto quanto receber em 3. </a:t>
            </a:r>
            <a:pPr indent="0" marL="0">
              <a:buNone/>
            </a:pPr>
            <a:r>
              <a:rPr lang="en-US" sz="16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prazos realistas é uma alavanca de baixo custo.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2ª reclamação é o segundo ponto de ruptura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4173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_insight_sac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2F3F5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contato extra é um problema que não foi resolvido de primeira. </a:t>
            </a:r>
            <a:pPr indent="0" marL="0">
              <a:buNone/>
            </a:pPr>
            <a:r>
              <a:rPr lang="en-US" sz="16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em até 2 dias ajuda, mas não compensa a causa do problema.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os problemas se somam, a nota cai de 8 para 1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\ Reclamações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6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prazo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3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A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BBB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7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DE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B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B6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AA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A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2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B6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D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939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C2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9E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93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787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 dias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9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4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7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6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86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média por combinação de atraso e nº de reclamações</a:t>
            </a:r>
            <a:endParaRPr lang="en-US" sz="1300" dirty="0"/>
          </a:p>
        </p:txBody>
      </p:sp>
      <p:sp>
        <p:nvSpPr>
          <p:cNvPr id="5" name="card_heat"/>
          <p:cNvSpPr/>
          <p:nvPr/>
        </p:nvSpPr>
        <p:spPr>
          <a:xfrm>
            <a:off x="8183880" y="146304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F2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5820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efeitos se somam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4028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prazo e sem reclamar: nota ~8.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longo e muitas reclamações: nota ~1.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 de atraso sem reclamação ainda tem nota 8: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o cliente antes de ele reclamar preserva a satisfação.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importa quem é o cliente, importa o que ele vive</a:t>
            </a:r>
            <a:endParaRPr lang="en-US" sz="3000" dirty="0"/>
          </a:p>
        </p:txBody>
      </p:sp>
      <p:sp>
        <p:nvSpPr>
          <p:cNvPr id="3" name="card_perfil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2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do cliente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A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 a 4,7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toda a variação da nota média entre regiões, faixas de idade, tempo de casa e valor do pedido. Diferenças pequenas, compatíveis com o acaso.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0" y="1371600"/>
          <a:ext cx="7269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389120" y="54406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atritos = entregue no prazo, no máximo 1 reclamação e no máximo 1 contato com o SAC.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cada atrito custa na nota do cliente</a:t>
            </a:r>
            <a:endParaRPr lang="en-US" sz="3000" dirty="0"/>
          </a:p>
        </p:txBody>
      </p:sp>
      <p:sp>
        <p:nvSpPr>
          <p:cNvPr id="3" name="card_peso_0"/>
          <p:cNvSpPr/>
          <p:nvPr/>
        </p:nvSpPr>
        <p:spPr>
          <a:xfrm>
            <a:off x="548640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−0,9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por dia de atraso na entrega</a:t>
            </a:r>
            <a:endParaRPr lang="en-US" sz="1600" dirty="0"/>
          </a:p>
        </p:txBody>
      </p:sp>
      <p:sp>
        <p:nvSpPr>
          <p:cNvPr id="7" name="card_peso_1"/>
          <p:cNvSpPr/>
          <p:nvPr/>
        </p:nvSpPr>
        <p:spPr>
          <a:xfrm>
            <a:off x="3355848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84448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−0,4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por reclamação registrada</a:t>
            </a:r>
            <a:endParaRPr lang="en-US" sz="1600" dirty="0"/>
          </a:p>
        </p:txBody>
      </p:sp>
      <p:sp>
        <p:nvSpPr>
          <p:cNvPr id="11" name="card_peso_2"/>
          <p:cNvSpPr/>
          <p:nvPr/>
        </p:nvSpPr>
        <p:spPr>
          <a:xfrm>
            <a:off x="6163056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165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−0,35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por contato extra com o SAC</a:t>
            </a:r>
            <a:endParaRPr lang="en-US" sz="1600" dirty="0"/>
          </a:p>
        </p:txBody>
      </p:sp>
      <p:sp>
        <p:nvSpPr>
          <p:cNvPr id="15" name="card_peso_3"/>
          <p:cNvSpPr/>
          <p:nvPr/>
        </p:nvSpPr>
        <p:spPr>
          <a:xfrm>
            <a:off x="8970264" y="15087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98864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49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−0,14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por dia para resolver o problema</a:t>
            </a:r>
            <a:endParaRPr lang="en-US" sz="1600" dirty="0"/>
          </a:p>
        </p:txBody>
      </p:sp>
      <p:sp>
        <p:nvSpPr>
          <p:cNvPr id="19" name="card_zero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20" name="contorno_zero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6857"/>
            </a:avLst>
          </a:prstGeom>
          <a:ln w="19050">
            <a:solidFill>
              <a:srgbClr val="D9D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70916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47091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Frete, desconto, valor, parcelas, itens, tentativas, região, idade e tempo de casa não movem a nota.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Cupom ou frete grátis não “compram” satisfação: o cliente quer a promessa cumprida.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soubéssemos antes?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Um modelo que estima a nota de cada pedido enquanto ainda dá tempo de agir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NPS previsto: um alerta antes da pesquisa</a:t>
            </a:r>
            <a:endParaRPr lang="en-US" sz="3000" dirty="0"/>
          </a:p>
        </p:txBody>
      </p:sp>
      <p:sp>
        <p:nvSpPr>
          <p:cNvPr id="3" name="card_fluxo_0"/>
          <p:cNvSpPr/>
          <p:nvPr/>
        </p:nvSpPr>
        <p:spPr>
          <a:xfrm>
            <a:off x="548640" y="15087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4" name="badge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do pedido em andamento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Atraso, reclamações, contatos e tempo de resolução, atualizados a cada evento</a:t>
            </a:r>
            <a:endParaRPr lang="en-US" sz="1400" dirty="0"/>
          </a:p>
        </p:txBody>
      </p:sp>
      <p:sp>
        <p:nvSpPr>
          <p:cNvPr id="8" name="card_fluxo_1"/>
          <p:cNvSpPr/>
          <p:nvPr/>
        </p:nvSpPr>
        <p:spPr>
          <a:xfrm>
            <a:off x="3355848" y="15087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9" name="badge"/>
          <p:cNvSpPr/>
          <p:nvPr/>
        </p:nvSpPr>
        <p:spPr>
          <a:xfrm>
            <a:off x="3584448" y="173736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estima a nota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10, usando só o que já é conhecido antes da pesquisa</a:t>
            </a:r>
            <a:endParaRPr lang="en-US" sz="1400" dirty="0"/>
          </a:p>
        </p:txBody>
      </p:sp>
      <p:sp>
        <p:nvSpPr>
          <p:cNvPr id="13" name="card_fluxo_2"/>
          <p:cNvSpPr/>
          <p:nvPr/>
        </p:nvSpPr>
        <p:spPr>
          <a:xfrm>
            <a:off x="6163056" y="15087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14" name="badge"/>
          <p:cNvSpPr/>
          <p:nvPr/>
        </p:nvSpPr>
        <p:spPr>
          <a:xfrm>
            <a:off x="6391656" y="173736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9165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de risco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(nota &lt; 4) · Moderado (4 a 7) · Baixo (≥ 7)</a:t>
            </a:r>
            <a:endParaRPr lang="en-US" sz="1400" dirty="0"/>
          </a:p>
        </p:txBody>
      </p:sp>
      <p:sp>
        <p:nvSpPr>
          <p:cNvPr id="18" name="card_fluxo_3"/>
          <p:cNvSpPr/>
          <p:nvPr/>
        </p:nvSpPr>
        <p:spPr>
          <a:xfrm>
            <a:off x="8970264" y="15087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4213D"/>
          </a:solidFill>
          <a:ln/>
        </p:spPr>
      </p:sp>
      <p:sp>
        <p:nvSpPr>
          <p:cNvPr id="19" name="badge"/>
          <p:cNvSpPr/>
          <p:nvPr/>
        </p:nvSpPr>
        <p:spPr>
          <a:xfrm>
            <a:off x="9198864" y="1737360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9886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certa, na hora certa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3200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priorizada para o time de CX e ações automáticas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26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ponto</a:t>
            </a:r>
            <a:endParaRPr lang="en-US" sz="5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 médio na nota prevista (chutar a média erraria 2,1)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526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5440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pedidos marcados como risco alto viraram detratores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526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54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5440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pós-pesquisa usados: CSAT e recompra ficaram de fora de propósito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faixas de risco apontam quem vai virar detrator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_acao_0"/>
          <p:cNvSpPr/>
          <p:nvPr/>
        </p:nvSpPr>
        <p:spPr>
          <a:xfrm>
            <a:off x="6035040" y="1463040"/>
            <a:ext cx="5605272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5" name="marcador_risco"/>
          <p:cNvSpPr/>
          <p:nvPr/>
        </p:nvSpPr>
        <p:spPr>
          <a:xfrm>
            <a:off x="6263640" y="1737360"/>
            <a:ext cx="365760" cy="365760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122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dos pedidos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21214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humano imediato, solução prioritária e compensação quando fizer sentido</a:t>
            </a:r>
            <a:endParaRPr lang="en-US" sz="1400" dirty="0"/>
          </a:p>
        </p:txBody>
      </p:sp>
      <p:sp>
        <p:nvSpPr>
          <p:cNvPr id="9" name="card_acao_1"/>
          <p:cNvSpPr/>
          <p:nvPr/>
        </p:nvSpPr>
        <p:spPr>
          <a:xfrm>
            <a:off x="6035040" y="3035808"/>
            <a:ext cx="5605272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10" name="marcador_risco"/>
          <p:cNvSpPr/>
          <p:nvPr/>
        </p:nvSpPr>
        <p:spPr>
          <a:xfrm>
            <a:off x="6263640" y="3310128"/>
            <a:ext cx="365760" cy="365760"/>
          </a:xfrm>
          <a:prstGeom prst="ellipse">
            <a:avLst/>
          </a:prstGeom>
          <a:solidFill>
            <a:srgbClr val="F0A2A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12280" y="3218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moderado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dos pedidos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369417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automáticas: aviso proativo de status, novo prazo realista, canal prioritário</a:t>
            </a:r>
            <a:endParaRPr lang="en-US" sz="1400" dirty="0"/>
          </a:p>
        </p:txBody>
      </p:sp>
      <p:sp>
        <p:nvSpPr>
          <p:cNvPr id="14" name="card_acao_2"/>
          <p:cNvSpPr/>
          <p:nvPr/>
        </p:nvSpPr>
        <p:spPr>
          <a:xfrm>
            <a:off x="6035040" y="4608576"/>
            <a:ext cx="5605272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15" name="marcador_risco"/>
          <p:cNvSpPr/>
          <p:nvPr/>
        </p:nvSpPr>
        <p:spPr>
          <a:xfrm>
            <a:off x="6263640" y="4882896"/>
            <a:ext cx="365760" cy="36576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12280" y="47914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baixo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47914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dos pedidos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12280" y="52669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padrão; 30% viram promotores: convite para programa de indicação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Recomendações: cumprir a promessa e evitar o 2º atrito</a:t>
            </a:r>
            <a:endParaRPr lang="en-US" sz="3000" dirty="0"/>
          </a:p>
        </p:txBody>
      </p:sp>
      <p:sp>
        <p:nvSpPr>
          <p:cNvPr id="3" name="card_rec_0"/>
          <p:cNvSpPr/>
          <p:nvPr/>
        </p:nvSpPr>
        <p:spPr>
          <a:xfrm>
            <a:off x="548640" y="141732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F2F3F5"/>
          </a:solidFill>
          <a:ln/>
        </p:spPr>
      </p:sp>
      <p:sp>
        <p:nvSpPr>
          <p:cNvPr id="4" name="marcador_area"/>
          <p:cNvSpPr/>
          <p:nvPr/>
        </p:nvSpPr>
        <p:spPr>
          <a:xfrm>
            <a:off x="822960" y="1664208"/>
            <a:ext cx="329184" cy="329184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98448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prometidos realistas, com folga por região e transportadora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na véspera do vencimento do prazo e prioridade para pedidos já atrasados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nenhum pedido com mais de 1 dia de atraso; ranking de transportadoras</a:t>
            </a:r>
            <a:endParaRPr lang="en-US" sz="1500" dirty="0"/>
          </a:p>
        </p:txBody>
      </p:sp>
      <p:sp>
        <p:nvSpPr>
          <p:cNvPr id="7" name="card_rec_1"/>
          <p:cNvSpPr/>
          <p:nvPr/>
        </p:nvSpPr>
        <p:spPr>
          <a:xfrm>
            <a:off x="6190488" y="141732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F2F3F5"/>
          </a:solidFill>
          <a:ln/>
        </p:spPr>
      </p:sp>
      <p:sp>
        <p:nvSpPr>
          <p:cNvPr id="8" name="marcador_area"/>
          <p:cNvSpPr/>
          <p:nvPr/>
        </p:nvSpPr>
        <p:spPr>
          <a:xfrm>
            <a:off x="6464808" y="1664208"/>
            <a:ext cx="329184" cy="32918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0296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64808" y="2148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proativo no 1º dia de atraso, antes da reclamação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no 1º contato, com autonomia para compensar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reclamação = escalonamento automático; resolução em até 2 dias</a:t>
            </a:r>
            <a:endParaRPr lang="en-US" sz="1500" dirty="0"/>
          </a:p>
        </p:txBody>
      </p:sp>
      <p:sp>
        <p:nvSpPr>
          <p:cNvPr id="11" name="card_rec_2"/>
          <p:cNvSpPr/>
          <p:nvPr/>
        </p:nvSpPr>
        <p:spPr>
          <a:xfrm>
            <a:off x="548640" y="388620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F2F3F5"/>
          </a:solidFill>
          <a:ln/>
        </p:spPr>
      </p:sp>
      <p:sp>
        <p:nvSpPr>
          <p:cNvPr id="12" name="marcador_area"/>
          <p:cNvSpPr/>
          <p:nvPr/>
        </p:nvSpPr>
        <p:spPr>
          <a:xfrm>
            <a:off x="822960" y="4133088"/>
            <a:ext cx="329184" cy="329184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98448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 e Dados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NPS previsto diário e fila priorizada por risco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Gatilhos simples já: “1 dia de atraso” e “2ª reclamação”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as ações com grupo de controle para medir o ganho real</a:t>
            </a:r>
            <a:endParaRPr lang="en-US" sz="1500" dirty="0"/>
          </a:p>
        </p:txBody>
      </p:sp>
      <p:sp>
        <p:nvSpPr>
          <p:cNvPr id="15" name="card_rec_3"/>
          <p:cNvSpPr/>
          <p:nvPr/>
        </p:nvSpPr>
        <p:spPr>
          <a:xfrm>
            <a:off x="6190488" y="3886200"/>
            <a:ext cx="5449824" cy="2286000"/>
          </a:xfrm>
          <a:prstGeom prst="roundRect">
            <a:avLst>
              <a:gd name="adj" fmla="val 4800"/>
            </a:avLst>
          </a:prstGeom>
          <a:solidFill>
            <a:srgbClr val="F2F3F5"/>
          </a:solidFill>
          <a:ln/>
        </p:spPr>
      </p:sp>
      <p:sp>
        <p:nvSpPr>
          <p:cNvPr id="16" name="marcador_area"/>
          <p:cNvSpPr/>
          <p:nvPr/>
        </p:nvSpPr>
        <p:spPr>
          <a:xfrm>
            <a:off x="6464808" y="4133088"/>
            <a:ext cx="329184" cy="329184"/>
          </a:xfrm>
          <a:prstGeom prst="ellipse">
            <a:avLst/>
          </a:prstGeom>
          <a:solidFill>
            <a:srgbClr val="8A87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0296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e Produto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usar cupom ou frete grátis como principal remédio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produto, seller e canal da reclamação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 causa raiz dos produtos mais reclamados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estimado: até +25 pontos de NPS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a partir do efeito de cada fator; estimativa, não garantia.</a:t>
            </a:r>
            <a:endParaRPr lang="en-US" sz="1300" dirty="0"/>
          </a:p>
        </p:txBody>
      </p:sp>
      <p:sp>
        <p:nvSpPr>
          <p:cNvPr id="5" name="card_roadmap_0"/>
          <p:cNvSpPr/>
          <p:nvPr/>
        </p:nvSpPr>
        <p:spPr>
          <a:xfrm>
            <a:off x="6720840" y="1463040"/>
            <a:ext cx="4919472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4944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dias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Ganhos rápidos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12140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Gatilhos de 1º atraso e 2ª reclamação; aviso proativo; revisão dos prazos prometidos</a:t>
            </a:r>
            <a:endParaRPr lang="en-US" sz="1400" dirty="0"/>
          </a:p>
        </p:txBody>
      </p:sp>
      <p:sp>
        <p:nvSpPr>
          <p:cNvPr id="9" name="card_roadmap_1"/>
          <p:cNvSpPr/>
          <p:nvPr/>
        </p:nvSpPr>
        <p:spPr>
          <a:xfrm>
            <a:off x="6720840" y="3035808"/>
            <a:ext cx="4919472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49440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30–90 dias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do modelo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694176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por risco em uma região, com teste A/B (grupo de controle) para medir o efeito</a:t>
            </a:r>
            <a:endParaRPr lang="en-US" sz="1400" dirty="0"/>
          </a:p>
        </p:txBody>
      </p:sp>
      <p:sp>
        <p:nvSpPr>
          <p:cNvPr id="13" name="card_roadmap_2"/>
          <p:cNvSpPr/>
          <p:nvPr/>
        </p:nvSpPr>
        <p:spPr>
          <a:xfrm>
            <a:off x="6720840" y="4608576"/>
            <a:ext cx="4919472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49440" y="47914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dias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7914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526694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NPS previsto, re-treino mensal e dados novos (produto, transportadora)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cuidados no uso dos resultados</a:t>
            </a:r>
            <a:endParaRPr lang="en-US" sz="3000" dirty="0"/>
          </a:p>
        </p:txBody>
      </p:sp>
      <p:sp>
        <p:nvSpPr>
          <p:cNvPr id="3" name="card_lim_0"/>
          <p:cNvSpPr/>
          <p:nvPr/>
        </p:nvSpPr>
        <p:spPr>
          <a:xfrm>
            <a:off x="548640" y="141732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F2F3F5"/>
          </a:solidFill>
          <a:ln/>
        </p:spPr>
      </p:sp>
      <p:sp>
        <p:nvSpPr>
          <p:cNvPr id="4" name="badg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não é causa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57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mostram associações. As ações devem ser validadas com teste A/B antes de escalar.</a:t>
            </a:r>
            <a:endParaRPr lang="en-US" sz="1400" dirty="0"/>
          </a:p>
        </p:txBody>
      </p:sp>
      <p:sp>
        <p:nvSpPr>
          <p:cNvPr id="8" name="card_lim_1"/>
          <p:cNvSpPr/>
          <p:nvPr/>
        </p:nvSpPr>
        <p:spPr>
          <a:xfrm>
            <a:off x="6190488" y="141732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F2F3F5"/>
          </a:solidFill>
          <a:ln/>
        </p:spPr>
      </p:sp>
      <p:sp>
        <p:nvSpPr>
          <p:cNvPr id="9" name="badge"/>
          <p:cNvSpPr/>
          <p:nvPr/>
        </p:nvSpPr>
        <p:spPr>
          <a:xfrm>
            <a:off x="6419088" y="164592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908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59168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é um alerta, não uma sentença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574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cerca de metade da variação da nota. Expectativa, produto e contexto do cliente não estão na base.</a:t>
            </a:r>
            <a:endParaRPr lang="en-US" sz="1400" dirty="0"/>
          </a:p>
        </p:txBody>
      </p:sp>
      <p:sp>
        <p:nvSpPr>
          <p:cNvPr id="13" name="card_lim_2"/>
          <p:cNvSpPr/>
          <p:nvPr/>
        </p:nvSpPr>
        <p:spPr>
          <a:xfrm>
            <a:off x="548640" y="301752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F2F3F5"/>
          </a:solidFill>
          <a:ln/>
        </p:spPr>
      </p:sp>
      <p:sp>
        <p:nvSpPr>
          <p:cNvPr id="14" name="badge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00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Faltam dados importantes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datas, produto, transportadora, canal ou texto das reclamações. Algumas definições têm inconsistências.</a:t>
            </a:r>
            <a:endParaRPr lang="en-US" sz="1400" dirty="0"/>
          </a:p>
        </p:txBody>
      </p:sp>
      <p:sp>
        <p:nvSpPr>
          <p:cNvPr id="18" name="card_lim_3"/>
          <p:cNvSpPr/>
          <p:nvPr/>
        </p:nvSpPr>
        <p:spPr>
          <a:xfrm>
            <a:off x="6190488" y="301752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F2F3F5"/>
          </a:solidFill>
          <a:ln/>
        </p:spPr>
      </p:sp>
      <p:sp>
        <p:nvSpPr>
          <p:cNvPr id="19" name="badge"/>
          <p:cNvSpPr/>
          <p:nvPr/>
        </p:nvSpPr>
        <p:spPr>
          <a:xfrm>
            <a:off x="6419088" y="3246120"/>
            <a:ext cx="457200" cy="457200"/>
          </a:xfrm>
          <a:prstGeom prst="ellipse">
            <a:avLst/>
          </a:prstGeom>
          <a:solidFill>
            <a:srgbClr val="8A878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3200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Viés da pesquisa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respondeu está na base, e quem responde costuma estar nos extremos.</a:t>
            </a:r>
            <a:endParaRPr lang="en-US" sz="1400" dirty="0"/>
          </a:p>
        </p:txBody>
      </p:sp>
      <p:sp>
        <p:nvSpPr>
          <p:cNvPr id="23" name="card_lim_4"/>
          <p:cNvSpPr/>
          <p:nvPr/>
        </p:nvSpPr>
        <p:spPr>
          <a:xfrm>
            <a:off x="548640" y="461772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F2F3F5"/>
          </a:solidFill>
          <a:ln/>
        </p:spPr>
      </p:sp>
      <p:sp>
        <p:nvSpPr>
          <p:cNvPr id="24" name="badge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8A878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800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não deve virar meta individual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257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atrelado à nota incentiva filtrar ou pressionar quem responde, e a métrica perde valor.</a:t>
            </a:r>
            <a:endParaRPr lang="en-US" sz="1400" dirty="0"/>
          </a:p>
        </p:txBody>
      </p:sp>
      <p:sp>
        <p:nvSpPr>
          <p:cNvPr id="28" name="card_lim_5"/>
          <p:cNvSpPr/>
          <p:nvPr/>
        </p:nvSpPr>
        <p:spPr>
          <a:xfrm>
            <a:off x="6190488" y="4617720"/>
            <a:ext cx="5449824" cy="1417320"/>
          </a:xfrm>
          <a:prstGeom prst="roundRect">
            <a:avLst>
              <a:gd name="adj" fmla="val 7742"/>
            </a:avLst>
          </a:prstGeom>
          <a:solidFill>
            <a:srgbClr val="F2F3F5"/>
          </a:solidFill>
          <a:ln/>
        </p:spPr>
      </p:sp>
      <p:sp>
        <p:nvSpPr>
          <p:cNvPr id="29" name="badge"/>
          <p:cNvSpPr/>
          <p:nvPr/>
        </p:nvSpPr>
        <p:spPr>
          <a:xfrm>
            <a:off x="6419088" y="4846320"/>
            <a:ext cx="457200" cy="457200"/>
          </a:xfrm>
          <a:prstGeom prst="ellipse">
            <a:avLst/>
          </a:prstGeom>
          <a:solidFill>
            <a:srgbClr val="8A878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19088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4800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ético da previsão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5257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previsão serve para cuidar melhor de quem está em risco, nunca para tratar pior quem “vai reclamar”.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1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Satisfação se perde na promessa quebrada e no segundo atrito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1. O atraso é o fator nº 1: o 1º dia já quebra a confiança.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2. A 2ª reclamação é o segundo ponto de ruptura.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3. Com o NPS previsto, dá para agir antes da pesquisa.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 ·  github.com/ricardowalendorff/Case_preditivo_NPS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PS Preditivo">
  <a:themeElements>
    <a:clrScheme name="NPS Preditivo">
      <a:dk1>
        <a:srgbClr val="1F2430"/>
      </a:dk1>
      <a:lt1>
        <a:srgbClr val="FFFFFF"/>
      </a:lt1>
      <a:dk2>
        <a:srgbClr val="14213D"/>
      </a:dk2>
      <a:lt2>
        <a:srgbClr val="F2F3F5"/>
      </a:lt2>
      <a:accent1>
        <a:srgbClr val="2A78D6"/>
      </a:accent1>
      <a:accent2>
        <a:srgbClr val="E34948"/>
      </a:accent2>
      <a:accent3>
        <a:srgbClr val="8A8780"/>
      </a:accent3>
      <a:accent4>
        <a:srgbClr val="F0A2A1"/>
      </a:accent4>
      <a:accent5>
        <a:srgbClr val="CDE2FB"/>
      </a:accent5>
      <a:accent6>
        <a:srgbClr val="EDA100"/>
      </a:accent6>
      <a:hlink>
        <a:srgbClr val="2A78D6"/>
      </a:hlink>
      <a:folHlink>
        <a:srgbClr val="4A3AA7"/>
      </a:folHlink>
    </a:clrScheme>
    <a:fontScheme name="NPS Preditiv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Preditivo de NPS</dc:title>
  <dc:subject>PptxGenJS Presentation</dc:subject>
  <dc:creator>Ricardo Fritsch Walendorff e Chrystopher Alves</dc:creator>
  <cp:lastModifiedBy>Ricardo Fritsch Walendorff e Chrystopher Alves</cp:lastModifiedBy>
  <cp:revision>1</cp:revision>
  <dcterms:created xsi:type="dcterms:W3CDTF">2026-10-12T21:45:28Z</dcterms:created>
  <dcterms:modified xsi:type="dcterms:W3CDTF">2026-10-12T21:45:28Z</dcterms:modified>
</cp:coreProperties>
</file>