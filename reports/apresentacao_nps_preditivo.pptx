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7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8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9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0639BE9-0225-74A3-E90C-72A69F9D7A55}">
          <p14:sldIdLst>
            <p14:sldId id="256"/>
          </p14:sldIdLst>
        </p14:section>
        <p14:section name="Contexto" id="{A28539A5-8F23-5E63-74B9-9B670CF2BA57}">
          <p14:sldIdLst>
            <p14:sldId id="257"/>
            <p14:sldId id="258"/>
          </p14:sldIdLst>
        </p14:section>
        <p14:section name="Insights" id="{957D0D4A-FCB3-591E-CA86-35664BB3AE51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Modelo" id="{A39C0F97-788D-C7CF-350F-6BB0D499EA09}">
          <p14:sldIdLst>
            <p14:sldId id="266"/>
            <p14:sldId id="267"/>
            <p14:sldId id="268"/>
          </p14:sldIdLst>
        </p14:section>
        <p14:section name="Recomendações" id="{746B0C4A-E9E1-AFC4-542F-6864C6EC715A}">
          <p14:sldIdLst>
            <p14:sldId id="269"/>
            <p14:sldId id="270"/>
          </p14:sldIdLst>
        </p14:section>
        <p14:section name="Encerramento" id="{7C2D611C-A30F-CC07-7EAF-849C7CF5AC08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2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8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Planilha_do_Microsoft_Excel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Planilha_do_Microsoft_Excel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Planilha_do_Microsoft_Excel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Planilha_do_Microsoft_Excel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Planilha_do_Microsoft_Excel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Planilha_do_Microsoft_Excel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Planilha_do_Microsoft_Excel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Planilha_do_Microsoft_Excel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Planilha_do_Microsoft_Excel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lang="pt-BR" sz="1400" b="0" i="0" u="none" strike="noStrike" dirty="0">
                <a:solidFill>
                  <a:srgbClr val="1F2430"/>
                </a:solidFill>
                <a:latin typeface="+mn-lt"/>
              </a:rPr>
              <a:t>Força da relação com a nota (0 = nenhuma, 1 = total)</a:t>
            </a:r>
          </a:p>
        </c:rich>
      </c:tx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Fatores-chave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[&lt;0.1]&quot;&quot;;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Tempo de entrega total</c:v>
                </c:pt>
                <c:pt idx="1">
                  <c:v>Idade do cliente</c:v>
                </c:pt>
                <c:pt idx="2">
                  <c:v>Desconto</c:v>
                </c:pt>
                <c:pt idx="3">
                  <c:v>Tempo de casa</c:v>
                </c:pt>
                <c:pt idx="4">
                  <c:v>Nº de parcelas</c:v>
                </c:pt>
                <c:pt idx="5">
                  <c:v>Tentativas de entrega</c:v>
                </c:pt>
                <c:pt idx="6">
                  <c:v>Valor do pedido</c:v>
                </c:pt>
                <c:pt idx="7">
                  <c:v>Frete</c:v>
                </c:pt>
                <c:pt idx="8">
                  <c:v>Tempo de resolução</c:v>
                </c:pt>
                <c:pt idx="9">
                  <c:v>Contatos com o SAC</c:v>
                </c:pt>
                <c:pt idx="10">
                  <c:v>Nº de reclamações</c:v>
                </c:pt>
                <c:pt idx="11">
                  <c:v>Atraso na entrega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0.19</c:v>
                </c:pt>
                <c:pt idx="9">
                  <c:v>0.34</c:v>
                </c:pt>
                <c:pt idx="10">
                  <c:v>0.49</c:v>
                </c:pt>
                <c:pt idx="11">
                  <c:v>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B43-5E42-AFB8-2EB4F6369B1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Demais</c:v>
                </c:pt>
              </c:strCache>
            </c:strRef>
          </c:tx>
          <c:spPr>
            <a:solidFill>
              <a:srgbClr val="D9D8D4"/>
            </a:solidFill>
            <a:effectLst/>
          </c:spPr>
          <c:invertIfNegative val="0"/>
          <c:dLbls>
            <c:numFmt formatCode="[&lt;0.1]&quot;&quot;;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Tempo de entrega total</c:v>
                </c:pt>
                <c:pt idx="1">
                  <c:v>Idade do cliente</c:v>
                </c:pt>
                <c:pt idx="2">
                  <c:v>Desconto</c:v>
                </c:pt>
                <c:pt idx="3">
                  <c:v>Tempo de casa</c:v>
                </c:pt>
                <c:pt idx="4">
                  <c:v>Nº de parcelas</c:v>
                </c:pt>
                <c:pt idx="5">
                  <c:v>Tentativas de entrega</c:v>
                </c:pt>
                <c:pt idx="6">
                  <c:v>Valor do pedido</c:v>
                </c:pt>
                <c:pt idx="7">
                  <c:v>Frete</c:v>
                </c:pt>
                <c:pt idx="8">
                  <c:v>Tempo de resolução</c:v>
                </c:pt>
                <c:pt idx="9">
                  <c:v>Contatos com o SAC</c:v>
                </c:pt>
                <c:pt idx="10">
                  <c:v>Nº de reclamações</c:v>
                </c:pt>
                <c:pt idx="11">
                  <c:v>Atraso na entrega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0.01</c:v>
                </c:pt>
                <c:pt idx="2">
                  <c:v>0.01</c:v>
                </c:pt>
                <c:pt idx="3">
                  <c:v>0.01</c:v>
                </c:pt>
                <c:pt idx="4">
                  <c:v>0.03</c:v>
                </c:pt>
                <c:pt idx="5">
                  <c:v>0.03</c:v>
                </c:pt>
                <c:pt idx="6">
                  <c:v>0.04</c:v>
                </c:pt>
                <c:pt idx="7">
                  <c:v>0.04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B43-5E42-AFB8-2EB4F6369B13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lang="pt-BR" sz="1400" b="0" i="0" u="none" strike="noStrike" dirty="0">
                <a:solidFill>
                  <a:srgbClr val="1F2430"/>
                </a:solidFill>
                <a:latin typeface="+mn-lt"/>
              </a:rPr>
              <a:t>% de clientes detratores por dias de atraso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No prazo</c:v>
                </c:pt>
                <c:pt idx="1">
                  <c:v>1 dia</c:v>
                </c:pt>
                <c:pt idx="2">
                  <c:v>2 dias</c:v>
                </c:pt>
                <c:pt idx="3">
                  <c:v>3 dias</c:v>
                </c:pt>
                <c:pt idx="4">
                  <c:v>4+ dias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3E-374F-92D3-E94F6521D5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 atraso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&quot;%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No prazo</c:v>
                </c:pt>
                <c:pt idx="1">
                  <c:v>1 dia</c:v>
                </c:pt>
                <c:pt idx="2">
                  <c:v>2 dias</c:v>
                </c:pt>
                <c:pt idx="3">
                  <c:v>3 dias</c:v>
                </c:pt>
                <c:pt idx="4">
                  <c:v>4+ dias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74</c:v>
                </c:pt>
                <c:pt idx="2">
                  <c:v>88</c:v>
                </c:pt>
                <c:pt idx="3">
                  <c:v>97</c:v>
                </c:pt>
                <c:pt idx="4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C3E-374F-92D3-E94F6521D5C4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lang="pt-BR" sz="1400" b="0" i="0" u="none" strike="noStrike" dirty="0">
                <a:solidFill>
                  <a:srgbClr val="1F2430"/>
                </a:solidFill>
                <a:latin typeface="+mn-lt"/>
              </a:rPr>
              <a:t>Nota média por tempo TOTAL de entrega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Nota média</c:v>
                </c:pt>
              </c:strCache>
            </c:strRef>
          </c:tx>
          <c:spPr>
            <a:solidFill>
              <a:srgbClr val="B5B3AD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1F2430"/>
                    </a:solidFill>
                    <a:latin typeface="+mn-lt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2-4 dias</c:v>
                </c:pt>
                <c:pt idx="1">
                  <c:v>5-7 dias</c:v>
                </c:pt>
                <c:pt idx="2">
                  <c:v>8-10 dias</c:v>
                </c:pt>
                <c:pt idx="3">
                  <c:v>11-14 dias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4.5</c:v>
                </c:pt>
                <c:pt idx="2">
                  <c:v>4.5</c:v>
                </c:pt>
                <c:pt idx="3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E3-DA42-8D89-BB3028E9C1D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lang="pt-BR" sz="1400" b="0" i="0" u="none" strike="noStrike" dirty="0">
                <a:solidFill>
                  <a:srgbClr val="1F2430"/>
                </a:solidFill>
                <a:latin typeface="+mn-lt"/>
              </a:rPr>
              <a:t>Nota média por ATRASO sobre o prometido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No prazo</c:v>
                </c:pt>
                <c:pt idx="1">
                  <c:v>1 dia</c:v>
                </c:pt>
                <c:pt idx="2">
                  <c:v>2 dias</c:v>
                </c:pt>
                <c:pt idx="3">
                  <c:v>3 dias</c:v>
                </c:pt>
                <c:pt idx="4">
                  <c:v>4+ dias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76-134E-AD1B-0F1000FB660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 atraso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.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No prazo</c:v>
                </c:pt>
                <c:pt idx="1">
                  <c:v>1 dia</c:v>
                </c:pt>
                <c:pt idx="2">
                  <c:v>2 dias</c:v>
                </c:pt>
                <c:pt idx="3">
                  <c:v>3 dias</c:v>
                </c:pt>
                <c:pt idx="4">
                  <c:v>4+ dias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5.5</c:v>
                </c:pt>
                <c:pt idx="2">
                  <c:v>4.5999999999999996</c:v>
                </c:pt>
                <c:pt idx="3">
                  <c:v>3.4</c:v>
                </c:pt>
                <c:pt idx="4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B76-134E-AD1B-0F1000FB6601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lang="pt-BR" sz="1400" b="0" i="0" u="none" strike="noStrike" dirty="0">
                <a:solidFill>
                  <a:srgbClr val="1F2430"/>
                </a:solidFill>
                <a:latin typeface="+mn-lt"/>
              </a:rPr>
              <a:t>% de detratores por nº de reclamações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Até 1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0-1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F4-044A-A498-823C202A8F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ou mais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&quot;%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0-1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6+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65</c:v>
                </c:pt>
                <c:pt idx="2">
                  <c:v>82</c:v>
                </c:pt>
                <c:pt idx="3">
                  <c:v>90</c:v>
                </c:pt>
                <c:pt idx="4">
                  <c:v>95</c:v>
                </c:pt>
                <c:pt idx="5">
                  <c:v>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6F4-044A-A498-823C202A8FEB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lang="pt-BR" sz="1400" b="0" i="0" u="none" strike="noStrike" dirty="0">
                <a:solidFill>
                  <a:srgbClr val="1F2430"/>
                </a:solidFill>
                <a:latin typeface="+mn-lt"/>
              </a:rPr>
              <a:t>% de detratores por contatos com o SAC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Nenhum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971-074F-B990-C61A4975424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 ou mais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&quot;%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4+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84</c:v>
                </c:pt>
                <c:pt idx="2">
                  <c:v>89</c:v>
                </c:pt>
                <c:pt idx="3">
                  <c:v>93</c:v>
                </c:pt>
                <c:pt idx="4">
                  <c:v>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971-074F-B990-C61A49754243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lang="pt-BR" sz="1400" b="0" i="0" u="none" strike="noStrike" dirty="0">
                <a:solidFill>
                  <a:srgbClr val="1F2430"/>
                </a:solidFill>
                <a:latin typeface="+mn-lt"/>
              </a:rPr>
              <a:t>Composição do NPS por tipo de jornada</a:t>
            </a:r>
          </a:p>
        </c:rich>
      </c:tx>
      <c:overlay val="0"/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Detrator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[&lt;6]&quot;&quot;;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Sem atritos (3% dos pedidos)</c:v>
                </c:pt>
                <c:pt idx="1">
                  <c:v>Demais pedidos</c:v>
                </c:pt>
                <c:pt idx="2">
                  <c:v>Atraso de 3+ dias (38%)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79</c:v>
                </c:pt>
                <c:pt idx="2">
                  <c:v>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0D-1741-9B4D-9DE1AD5E1A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Neutro</c:v>
                </c:pt>
              </c:strCache>
            </c:strRef>
          </c:tx>
          <c:spPr>
            <a:solidFill>
              <a:srgbClr val="B5B3AD"/>
            </a:solidFill>
            <a:effectLst/>
          </c:spPr>
          <c:invertIfNegative val="0"/>
          <c:dLbls>
            <c:numFmt formatCode="[&lt;6]&quot;&quot;;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Sem atritos (3% dos pedidos)</c:v>
                </c:pt>
                <c:pt idx="1">
                  <c:v>Demais pedidos</c:v>
                </c:pt>
                <c:pt idx="2">
                  <c:v>Atraso de 3+ dias (38%)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42</c:v>
                </c:pt>
                <c:pt idx="1">
                  <c:v>16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0D-1741-9B4D-9DE1AD5E1A3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Promotor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[&lt;6]&quot;&quot;;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Sem atritos (3% dos pedidos)</c:v>
                </c:pt>
                <c:pt idx="1">
                  <c:v>Demais pedidos</c:v>
                </c:pt>
                <c:pt idx="2">
                  <c:v>Atraso de 3+ dias (38%)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34</c:v>
                </c:pt>
                <c:pt idx="1">
                  <c:v>5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0D-1741-9B4D-9DE1AD5E1A34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B617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lang="pt-BR" sz="1400" b="0" i="0" u="none" strike="noStrike" dirty="0">
                <a:solidFill>
                  <a:srgbClr val="1F2430"/>
                </a:solidFill>
                <a:latin typeface="+mn-lt"/>
              </a:rPr>
              <a:t>% que de fato virou detrator (pedidos de teste)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Alto</c:v>
                </c:pt>
              </c:strCache>
            </c:strRef>
          </c:tx>
          <c:spPr>
            <a:solidFill>
              <a:srgbClr val="E34948"/>
            </a:solidFill>
            <a:effectLst/>
          </c:spPr>
          <c:invertIfNegative val="0"/>
          <c:dLbls>
            <c:numFmt formatCode="0&quot;%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Risco alto</c:v>
                </c:pt>
                <c:pt idx="1">
                  <c:v>Risco moderado</c:v>
                </c:pt>
                <c:pt idx="2">
                  <c:v>Risco baixo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808-D443-AF01-A9079B18B5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Moderado</c:v>
                </c:pt>
              </c:strCache>
            </c:strRef>
          </c:tx>
          <c:spPr>
            <a:solidFill>
              <a:srgbClr val="F0A2A1"/>
            </a:solidFill>
            <a:effectLst/>
          </c:spPr>
          <c:invertIfNegative val="0"/>
          <c:dLbls>
            <c:numFmt formatCode="0&quot;%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Risco alto</c:v>
                </c:pt>
                <c:pt idx="1">
                  <c:v>Risco moderado</c:v>
                </c:pt>
                <c:pt idx="2">
                  <c:v>Risco baixo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82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808-D443-AF01-A9079B18B55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Baixo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Risco alto</c:v>
                </c:pt>
                <c:pt idx="1">
                  <c:v>Risco moderado</c:v>
                </c:pt>
                <c:pt idx="2">
                  <c:v>Risco baixo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808-D443-AF01-A9079B18B55D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6E5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430"/>
                </a:solidFill>
                <a:latin typeface="+mn-lt"/>
              </a:defRPr>
            </a:pPr>
            <a:r>
              <a:rPr lang="pt-BR" sz="1400" b="0" i="0" u="none" strike="noStrike" dirty="0">
                <a:solidFill>
                  <a:srgbClr val="1F2430"/>
                </a:solidFill>
                <a:latin typeface="+mn-lt"/>
              </a:rPr>
              <a:t>Ganho estimado de NPS (pontos) por cenário</a:t>
            </a:r>
          </a:p>
        </c:rich>
      </c:tx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Isolado</c:v>
                </c:pt>
              </c:strCache>
            </c:strRef>
          </c:tx>
          <c:spPr>
            <a:solidFill>
              <a:srgbClr val="B5B3AD"/>
            </a:solidFill>
            <a:effectLst/>
          </c:spPr>
          <c:invertIfNegative val="0"/>
          <c:dLbls>
            <c:numFmt formatCode="[&lt;3]&quot;&quot;;&quot;+&quot;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Resolver com até 1 contato (+2)</c:v>
                </c:pt>
                <c:pt idx="1">
                  <c:v>Resolução em até 2 dias</c:v>
                </c:pt>
                <c:pt idx="2">
                  <c:v>Atraso máximo de 1 dia</c:v>
                </c:pt>
                <c:pt idx="3">
                  <c:v>Combinado (os três)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6.6</c:v>
                </c:pt>
                <c:pt idx="2">
                  <c:v>11.1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703-EB42-A6D2-49726DEA331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Combinado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[&lt;3]&quot;&quot;;&quot;+&quot;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Resolver com até 1 contato (+2)</c:v>
                </c:pt>
                <c:pt idx="1">
                  <c:v>Resolução em até 2 dias</c:v>
                </c:pt>
                <c:pt idx="2">
                  <c:v>Atraso máximo de 1 dia</c:v>
                </c:pt>
                <c:pt idx="3">
                  <c:v>Combinado (os três)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703-EB42-A6D2-49726DEA331A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6E5E1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1131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Abertura. Hoje vou mostrar o que os dados operacionais dizem sobre a satisfação dos nossos clientes e como podemos agir antes que um cliente vire detrator.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 e-commerce cresceu e a experiência ficou desigual. O NPS é coletado só no fim da jornada: quando a nota chega, o atraso e as reclamações já aconteceram. Na base analisada, de 2.500 pedidos, o NPS é -80, com margem de erro de cerca de 2 pontos, e 84% dos clientes são detratores. O problema é estrutural, não exceção.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Duas perguntas: a de negócio, sobre o que move a satisfação, e a do modelo, sobre prever a nota de cada pedido enquanto ainda dá tempo de agir.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Olhando todas as variáveis, só quatro têm relação forte com a nota: atraso na entrega, número de reclamações, contatos com o SAC e tempo de resolução. Valor do pedido, frete, desconto e perfil do cliente praticamente não importam.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Este é o principal achado. Pedido entregue no prazo tem nota média 6,9. Com um dia de atraso, 74% já são detratores. A partir de três dias, praticamente todos. O atraso não é um incômodo gradual: o primeiro dia já quebra a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Um achado contraintuitivo: o tempo total de entrega não muda a nota. O que derruba a nota é o atraso em relação ao prometido. Ou seja, prometer prazos realistas, com folga, pode reduzir atrasos percebidos sem precisar acelerar a operação.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 atendimento, o segundo ponto de ruptura é a segunda reclamação: com até uma, a nota média fica perto de 8; com duas, 65% já são detratores. Cada contato adicional com o SAC piora o quadro, porque significa que o problema não foi resolvido de primeira.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Os problemas se somam. No canto 'no prazo e sem reclamação' a nota é cerca de 8; no canto oposto, cerca de 1. E um ponto de esperança: pedidos com 1 dia de atraso que não viraram reclamação ainda têm nota 8. Comunicar o atraso antes que o cliente precise reclamar preserva a satisfação.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Que tipo de cliente tem NPS mais alto? A resposta é: não é o perfil, é a experiência. Entre regiões, idades e faixas de valor a nota média quase não muda. Já a jornada muda tudo: pedidos sem atritos têm 34% de promotores; pedidos com 3 ou mais dias de atraso praticamente não geram promotores. Hoje, só 3% dos pedidos têm a jornada sem atritos.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Traduzindo em números: cada dia de atraso custa quase 1 ponto na nota; cada reclamação, 0,4; cada contato extra com o SAC, 0,35; cada dia para resolver, 0,14. E o que é tão importante quanto: frete, desconto e valor do pedido não movem a nota. Não adianta tentar comprar satisfação com cupom.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 sabemos o que gera detratores, podemos prever quem está a caminho de virar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Como funciona: a cada evento do pedido, o modelo recalcula a nota esperada e classifica o pedido em risco alto, moderado ou baixo. O erro médio é de 1,4 ponto na escala de 0 a 10, e todos os pedidos que ele marcou como risco alto de fato viraram detratores. Importante: não usamos dados que só existem depois da pesquisa, como CSAT e recompra, para o modelo funcionar de verdade no dia a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Testamos o modelo em 500 pedidos que ele nunca tinha visto. Na faixa de risco alto, 100% viraram detratores. Na de risco baixo, só 32%, e 30% viraram promotores. Cada faixa tem uma ação: contato humano no risco alto, automação no moderado, e convite para indicação no baixo.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As recomendações se organizam em duas ideias: cumprir a promessa de entrega e evitar o segundo atrito. Na logística: prazos realistas, alerta antes de vencer e prioridade para quem já atrasou. No atendimento: falar com o cliente no primeiro dia de atraso, antes da reclamação, e resolver no primeiro contato. Em CX e dados: painel de NPS previsto e testes com grupo de controle. No comercial: não usar desconto como remédio, porque os dados mostram que não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Simulamos o impacto: limitar o atraso a no máximo 1 dia vale cerca de 11 pontos de NPS; resolver em até 2 dias, cerca de 7; combinando logística e atendimento, cerca de 25 pontos. O NPS ainda ficaria negativo, o que mostra que é um programa contínuo, não uma ação pontual. Propomos começar por ganhos rápidos em 30 dias, um piloto com grupo de controle até 90 dias e depois escalar.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Limitações: os dados mostram associação, não causa, por isso recomendamos testar com grupo de controle. O modelo é um alerta e explica cerca de metade da variação. Faltam dados como data, produto e transportadora. E dois cuidados de uso: não transformar o NPS em meta individual e usar a previsão para cuidar melhor do cliente, nunca para tratá-lo pior.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Para fechar em três frases: o atraso é o fator número um e o primeiro dia já quebra a confiança; a segunda reclamação é o segundo ponto de ruptura; e com o NPS previsto conseguimos agir antes da pesquisa, priorizando quem está em risco.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82880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033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B6170"/>
                </a:solidFill>
              </a:rPr>
              <a:t>Case Preditivo de NPS · Tech Challenge Fase 1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37744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4904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C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8288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pt-BR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retrovisor ao para-brisa: antecipando a satisfação do cliente</a:t>
            </a:r>
            <a:endParaRPr lang="pt-BR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033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2000" dirty="0">
                <a:solidFill>
                  <a:schemeClr val="accent5"/>
                </a:solidFill>
              </a:rPr>
              <a:t>Case Preditivo de NPS · O que realmente move a nota e como agir antes da pesquisa</a:t>
            </a:r>
            <a:endParaRPr lang="pt-BR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Fritsch Walendorff (RM378526) e </a:t>
            </a:r>
            <a:r>
              <a:rPr lang="pt-BR" sz="1400" dirty="0" err="1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Chrystopher</a:t>
            </a:r>
            <a:r>
              <a:rPr lang="pt-BR" sz="14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Alves (RM377391)  ·  Pós Tech IA para Cientistas de Dados  ·  Tech </a:t>
            </a:r>
            <a:r>
              <a:rPr lang="pt-BR" sz="1400" dirty="0" err="1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r>
              <a:rPr lang="pt-BR" sz="14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Fase 1</a:t>
            </a:r>
            <a:endParaRPr lang="pt-BR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NPS chega tarde demais para salvar </a:t>
            </a:r>
            <a:r>
              <a:rPr lang="pt-BR" dirty="0"/>
              <a:t>a</a:t>
            </a: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experiência</a:t>
            </a:r>
            <a:endParaRPr lang="pt-BR" sz="3000" dirty="0"/>
          </a:p>
        </p:txBody>
      </p:sp>
      <p:sp>
        <p:nvSpPr>
          <p:cNvPr id="3" name="etapa_0"/>
          <p:cNvSpPr/>
          <p:nvPr/>
        </p:nvSpPr>
        <p:spPr>
          <a:xfrm>
            <a:off x="548640" y="160020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</a:t>
            </a:r>
            <a:endParaRPr lang="pt-BR" sz="1700" dirty="0"/>
          </a:p>
        </p:txBody>
      </p:sp>
      <p:sp>
        <p:nvSpPr>
          <p:cNvPr id="5" name="seta"/>
          <p:cNvSpPr/>
          <p:nvPr/>
        </p:nvSpPr>
        <p:spPr>
          <a:xfrm rot="5400000">
            <a:off x="2962656" y="1828800"/>
            <a:ext cx="164592" cy="228600"/>
          </a:xfrm>
          <a:prstGeom prst="rtTriangle">
            <a:avLst/>
          </a:prstGeom>
          <a:solidFill>
            <a:srgbClr val="8A8780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etapa_1"/>
          <p:cNvSpPr/>
          <p:nvPr/>
        </p:nvSpPr>
        <p:spPr>
          <a:xfrm>
            <a:off x="3200400" y="160020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600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pt-BR" sz="1700" dirty="0"/>
          </a:p>
        </p:txBody>
      </p:sp>
      <p:sp>
        <p:nvSpPr>
          <p:cNvPr id="8" name="seta"/>
          <p:cNvSpPr/>
          <p:nvPr/>
        </p:nvSpPr>
        <p:spPr>
          <a:xfrm rot="5400000">
            <a:off x="5614416" y="1828800"/>
            <a:ext cx="164592" cy="228600"/>
          </a:xfrm>
          <a:prstGeom prst="rtTriangle">
            <a:avLst/>
          </a:prstGeom>
          <a:solidFill>
            <a:srgbClr val="8A8780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9" name="etapa_2"/>
          <p:cNvSpPr/>
          <p:nvPr/>
        </p:nvSpPr>
        <p:spPr>
          <a:xfrm>
            <a:off x="5852160" y="160020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600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</a:t>
            </a:r>
            <a:endParaRPr lang="pt-BR" sz="1700" dirty="0"/>
          </a:p>
        </p:txBody>
      </p:sp>
      <p:sp>
        <p:nvSpPr>
          <p:cNvPr id="11" name="seta"/>
          <p:cNvSpPr/>
          <p:nvPr/>
        </p:nvSpPr>
        <p:spPr>
          <a:xfrm rot="5400000">
            <a:off x="8266176" y="1828800"/>
            <a:ext cx="164592" cy="228600"/>
          </a:xfrm>
          <a:prstGeom prst="rtTriangle">
            <a:avLst/>
          </a:prstGeom>
          <a:solidFill>
            <a:srgbClr val="8A8780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etapa_3"/>
          <p:cNvSpPr/>
          <p:nvPr/>
        </p:nvSpPr>
        <p:spPr>
          <a:xfrm>
            <a:off x="8503920" y="1600200"/>
            <a:ext cx="2331720" cy="685800"/>
          </a:xfrm>
          <a:prstGeom prst="roundRect">
            <a:avLst>
              <a:gd name="adj" fmla="val 13333"/>
            </a:avLst>
          </a:prstGeom>
          <a:solidFill>
            <a:srgbClr val="E34948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160020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NPS</a:t>
            </a:r>
            <a:endParaRPr lang="pt-BR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4231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Queremos agir aqui: os sinais já existem durante a jornada</a:t>
            </a:r>
            <a:endParaRPr lang="pt-BR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4231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pt-BR" sz="1500" i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medimos só aqui, quando já é tarde</a:t>
            </a:r>
            <a:endParaRPr lang="pt-BR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461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5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2.500</a:t>
            </a:r>
            <a:endParaRPr lang="pt-BR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160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analisados, com dados de pedido, logística e atendimento</a:t>
            </a:r>
            <a:endParaRPr lang="pt-BR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32461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54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−80</a:t>
            </a:r>
            <a:endParaRPr lang="pt-BR" sz="54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4160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NPS da base (margem de erro: −82 a −78): 19 detratores para cada promotor</a:t>
            </a:r>
            <a:endParaRPr lang="pt-BR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32461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54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pt-BR" sz="54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4160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clientes terminam a jornada como detratores (nota abaixo de 7)</a:t>
            </a:r>
            <a:endParaRPr lang="pt-BR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663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crescimento acelerado, a experiência ficou desigual: clientes com operações parecidas viram promotores ou detratores. Em um e-commerce, trocar de loja custa um clique.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2</a:t>
            </a:fld>
            <a:endParaRPr lang="pt-B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perguntas guiaram o trabalho</a:t>
            </a:r>
            <a:endParaRPr lang="pt-BR" sz="3000" dirty="0"/>
          </a:p>
        </p:txBody>
      </p:sp>
      <p:sp>
        <p:nvSpPr>
          <p:cNvPr id="3" name="card_pergunta_negocio"/>
          <p:cNvSpPr/>
          <p:nvPr/>
        </p:nvSpPr>
        <p:spPr>
          <a:xfrm>
            <a:off x="548640" y="150876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badge"/>
          <p:cNvSpPr/>
          <p:nvPr/>
        </p:nvSpPr>
        <p:spPr>
          <a:xfrm>
            <a:off x="914400" y="1828800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pt-BR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8928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DE NEGÓCIO</a:t>
            </a:r>
            <a:endParaRPr lang="pt-B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4617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fatores operacionais realmente influenciam a satisfação do cliente e como agir de forma proativa, antes da pesquisa de NPS?</a:t>
            </a:r>
            <a:endParaRPr lang="pt-BR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9834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i="1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análise exploratória dos dados</a:t>
            </a:r>
            <a:endParaRPr lang="pt-BR" sz="1500" dirty="0"/>
          </a:p>
        </p:txBody>
      </p:sp>
      <p:sp>
        <p:nvSpPr>
          <p:cNvPr id="9" name="card_pergunta_modelo"/>
          <p:cNvSpPr/>
          <p:nvPr/>
        </p:nvSpPr>
        <p:spPr>
          <a:xfrm>
            <a:off x="6263640" y="150876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14213D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0" name="badge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pt-BR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8928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b="1" dirty="0">
                <a:solidFill>
                  <a:srgbClr val="AA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DO MODELO</a:t>
            </a:r>
            <a:endParaRPr lang="pt-BR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606040"/>
            <a:ext cx="4617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que já sabemos sobre este pedido hoje, qual nota esse cliente tende a dar e ele precisa de uma ação agora?</a:t>
            </a:r>
            <a:endParaRPr lang="pt-BR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49834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i="1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modelo preditivo + faixas de risco</a:t>
            </a:r>
            <a:endParaRPr lang="pt-B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3</a:t>
            </a:fld>
            <a:endParaRPr lang="pt-B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fatores explicam a satisfação e o atraso lidera</a:t>
            </a:r>
            <a:endParaRPr lang="pt-BR" sz="3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4179685501"/>
              </p:ext>
            </p:extLst>
          </p:nvPr>
        </p:nvGraphicFramePr>
        <p:xfrm>
          <a:off x="548640" y="1371600"/>
          <a:ext cx="694944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card_pesam"/>
          <p:cNvSpPr/>
          <p:nvPr/>
        </p:nvSpPr>
        <p:spPr>
          <a:xfrm>
            <a:off x="7863840" y="1463040"/>
            <a:ext cx="3776472" cy="2240280"/>
          </a:xfrm>
          <a:prstGeom prst="roundRect">
            <a:avLst>
              <a:gd name="adj" fmla="val 4898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5" name="Text 2"/>
          <p:cNvSpPr txBox="1"/>
          <p:nvPr/>
        </p:nvSpPr>
        <p:spPr>
          <a:xfrm>
            <a:off x="8138160" y="1645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pesa</a:t>
            </a:r>
            <a:endParaRPr lang="pt-BR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1031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na entrega e a experiência com o atendimento: reclamações, contatos e tempo de resolução.</a:t>
            </a:r>
            <a:endParaRPr lang="pt-BR" sz="1600" dirty="0"/>
          </a:p>
        </p:txBody>
      </p:sp>
      <p:sp>
        <p:nvSpPr>
          <p:cNvPr id="7" name="card_nao_pesam"/>
          <p:cNvSpPr/>
          <p:nvPr/>
        </p:nvSpPr>
        <p:spPr>
          <a:xfrm>
            <a:off x="7863840" y="3931920"/>
            <a:ext cx="3776472" cy="2240280"/>
          </a:xfrm>
          <a:prstGeom prst="roundRect">
            <a:avLst>
              <a:gd name="adj" fmla="val 4898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114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pesa</a:t>
            </a:r>
            <a:endParaRPr lang="pt-BR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45720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Frete, desconto, valor, parcelas, tentativas de entrega, região, idade e tempo de casa.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4</a:t>
            </a:fld>
            <a:endParaRPr lang="pt-B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1º dia de atraso é o ponto de ruptura</a:t>
            </a:r>
            <a:endParaRPr lang="pt-BR" sz="3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3645729215"/>
              </p:ext>
            </p:extLst>
          </p:nvPr>
        </p:nvGraphicFramePr>
        <p:xfrm>
          <a:off x="548640" y="1371600"/>
          <a:ext cx="694944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01000" y="15087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38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6,9</a:t>
            </a:r>
            <a:endParaRPr lang="pt-BR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001000" y="22402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média de quem recebe no prazo</a:t>
            </a:r>
            <a:endParaRPr lang="pt-BR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3108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3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 ponto</a:t>
            </a:r>
            <a:endParaRPr lang="pt-BR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3840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nota a cada dia de atraso</a:t>
            </a:r>
            <a:endParaRPr lang="pt-BR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4709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3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~100%</a:t>
            </a:r>
            <a:endParaRPr lang="pt-BR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54406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detratores com 3 dias ou mais de atraso: a recuperação fica quase impossível</a:t>
            </a:r>
            <a:endParaRPr lang="pt-B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5</a:t>
            </a:fld>
            <a:endParaRPr lang="pt-B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aceita esperar, mas não aceita a promessa quebrada</a:t>
            </a:r>
            <a:endParaRPr lang="pt-BR" sz="3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3786266297"/>
              </p:ext>
            </p:extLst>
          </p:nvPr>
        </p:nvGraphicFramePr>
        <p:xfrm>
          <a:off x="548640" y="1417320"/>
          <a:ext cx="53949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/>
          <p:cNvGraphicFramePr/>
          <p:nvPr>
            <p:extLst>
              <p:ext uri="{D42A27DB-BD31-4B8C-83A1-F6EECF244321}">
                <p14:modId xmlns:p14="http://schemas.microsoft.com/office/powerpoint/2010/main" val="3423852330"/>
              </p:ext>
            </p:extLst>
          </p:nvPr>
        </p:nvGraphicFramePr>
        <p:xfrm>
          <a:off x="6217920" y="1417320"/>
          <a:ext cx="53949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card_insight_prazo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 em 12 dias dentro do prazo satisfaz tanto quanto receber em 3. </a:t>
            </a:r>
            <a:r>
              <a:rPr lang="pt-BR" sz="16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prazos realistas é uma alavanca de baixo custo.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6</a:t>
            </a:fld>
            <a:endParaRPr lang="pt-B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2ª reclamação é o segundo ponto de ruptura</a:t>
            </a:r>
            <a:endParaRPr lang="pt-BR" sz="3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1268632477"/>
              </p:ext>
            </p:extLst>
          </p:nvPr>
        </p:nvGraphicFramePr>
        <p:xfrm>
          <a:off x="548640" y="1417320"/>
          <a:ext cx="53949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/>
          <p:cNvGraphicFramePr/>
          <p:nvPr>
            <p:extLst>
              <p:ext uri="{D42A27DB-BD31-4B8C-83A1-F6EECF244321}">
                <p14:modId xmlns:p14="http://schemas.microsoft.com/office/powerpoint/2010/main" val="1476441770"/>
              </p:ext>
            </p:extLst>
          </p:nvPr>
        </p:nvGraphicFramePr>
        <p:xfrm>
          <a:off x="6217920" y="1417320"/>
          <a:ext cx="53949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card_insight_sac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contato extra é um problema que não foi resolvido de primeira. </a:t>
            </a:r>
            <a:r>
              <a:rPr lang="pt-BR" sz="16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em até 2 dias ajuda, mas não compensa a causa do problema.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7</a:t>
            </a:fld>
            <a:endParaRPr lang="pt-BR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os problemas se somam, a nota cai de 8 para 1</a:t>
            </a:r>
            <a:endParaRPr lang="pt-BR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467175"/>
              </p:ext>
            </p:extLst>
          </p:nvPr>
        </p:nvGraphicFramePr>
        <p:xfrm>
          <a:off x="548640" y="1463040"/>
          <a:ext cx="7223760" cy="3950208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Atraso \ Reclamações</a:t>
                      </a:r>
                      <a:endParaRPr lang="pt-B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0-1</a:t>
                      </a:r>
                      <a:endParaRPr lang="pt-B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pt-B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pt-B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pt-B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pt-B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b="1" dirty="0">
                          <a:solidFill>
                            <a:srgbClr val="5B61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6+</a:t>
                      </a:r>
                      <a:endParaRPr lang="pt-B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prazo</a:t>
                      </a:r>
                      <a:endParaRPr lang="pt-B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C3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DA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D7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BB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dia</a:t>
                      </a:r>
                      <a:endParaRPr lang="pt-B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C7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E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CB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B6B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A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dias</a:t>
                      </a:r>
                      <a:endParaRPr lang="pt-B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D7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DA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C2B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B6B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ADA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93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dias</a:t>
                      </a:r>
                      <a:endParaRPr lang="pt-B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A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C2B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A8A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9E9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93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78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pt-BR" sz="14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4+ dias</a:t>
                      </a:r>
                      <a:endParaRPr lang="pt-B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D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89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848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7D7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6F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</a:t>
                      </a:r>
                      <a:endParaRPr lang="pt-B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68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3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média por combinação de atraso e nº de reclamações</a:t>
            </a:r>
            <a:endParaRPr lang="pt-BR" sz="1300" dirty="0"/>
          </a:p>
        </p:txBody>
      </p:sp>
      <p:sp>
        <p:nvSpPr>
          <p:cNvPr id="5" name="card_heat"/>
          <p:cNvSpPr/>
          <p:nvPr/>
        </p:nvSpPr>
        <p:spPr>
          <a:xfrm>
            <a:off x="8183880" y="1463040"/>
            <a:ext cx="3456432" cy="4343400"/>
          </a:xfrm>
          <a:prstGeom prst="roundRect">
            <a:avLst>
              <a:gd name="adj" fmla="val 3175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Text 3"/>
          <p:cNvSpPr txBox="1"/>
          <p:nvPr/>
        </p:nvSpPr>
        <p:spPr>
          <a:xfrm>
            <a:off x="845820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efeitos se somam</a:t>
            </a:r>
            <a:endParaRPr lang="pt-BR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458200" y="224028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prazo e sem reclamar: nota ~8.</a:t>
            </a:r>
            <a:endParaRPr lang="pt-BR" sz="1600" dirty="0"/>
          </a:p>
          <a:p>
            <a:pPr marL="0" indent="0">
              <a:buNone/>
            </a:pPr>
            <a:r>
              <a:rPr lang="pt-B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longo e muitas reclamações: nota ~1.</a:t>
            </a:r>
            <a:endParaRPr lang="pt-BR" sz="1600" dirty="0"/>
          </a:p>
          <a:p>
            <a:pPr marL="0" indent="0">
              <a:buNone/>
            </a:pPr>
            <a:r>
              <a:rPr lang="pt-B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pt-BR" sz="1600" dirty="0"/>
          </a:p>
          <a:p>
            <a:pPr marL="0" indent="0">
              <a:buNone/>
            </a:pPr>
            <a:r>
              <a:rPr lang="pt-BR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dia de atraso sem reclamação ainda tem nota 8: </a:t>
            </a:r>
            <a:r>
              <a:rPr lang="pt-B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o cliente antes de ele reclamar preserva a satisfação.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8</a:t>
            </a:fld>
            <a:endParaRPr lang="pt-BR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importa quem é o cliente, importa o que ele vive</a:t>
            </a:r>
            <a:endParaRPr lang="pt-BR" sz="3000" dirty="0"/>
          </a:p>
        </p:txBody>
      </p:sp>
      <p:sp>
        <p:nvSpPr>
          <p:cNvPr id="3" name="card_perfil"/>
          <p:cNvSpPr/>
          <p:nvPr/>
        </p:nvSpPr>
        <p:spPr>
          <a:xfrm>
            <a:off x="548640" y="1463040"/>
            <a:ext cx="3566160" cy="4663440"/>
          </a:xfrm>
          <a:prstGeom prst="roundRect">
            <a:avLst>
              <a:gd name="adj" fmla="val 3077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91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do cliente</a:t>
            </a:r>
            <a:endParaRPr lang="pt-BR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402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4000" b="1" dirty="0">
                <a:solidFill>
                  <a:srgbClr val="8A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 a 4,7</a:t>
            </a:r>
            <a:endParaRPr lang="pt-BR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toda a variação da nota média entre regiões, faixas de idade, tempo de casa e valor do pedido. Diferenças pequenas, compatíveis com o acaso.</a:t>
            </a:r>
            <a:endParaRPr lang="pt-BR" sz="15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3003860455"/>
              </p:ext>
            </p:extLst>
          </p:nvPr>
        </p:nvGraphicFramePr>
        <p:xfrm>
          <a:off x="4389120" y="1371600"/>
          <a:ext cx="726948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389120" y="544068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atritos = entregue no prazo, no máximo 1 reclamação e no máximo 1 contato com o SAC.</a:t>
            </a:r>
            <a:endParaRPr lang="pt-B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9</a:t>
            </a:fld>
            <a:endParaRPr lang="pt-BR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cada atrito custa na nota do cliente</a:t>
            </a:r>
            <a:endParaRPr lang="pt-BR" sz="3000" dirty="0"/>
          </a:p>
        </p:txBody>
      </p:sp>
      <p:sp>
        <p:nvSpPr>
          <p:cNvPr id="3" name="card_peso_0"/>
          <p:cNvSpPr/>
          <p:nvPr/>
        </p:nvSpPr>
        <p:spPr>
          <a:xfrm>
            <a:off x="548640" y="150876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37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2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LOGÍSTICA</a:t>
            </a:r>
            <a:endParaRPr lang="pt-BR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−0,9</a:t>
            </a:r>
            <a:endParaRPr lang="pt-BR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4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por dia de atraso na entrega</a:t>
            </a:r>
            <a:endParaRPr lang="pt-BR" sz="1600" dirty="0"/>
          </a:p>
        </p:txBody>
      </p:sp>
      <p:sp>
        <p:nvSpPr>
          <p:cNvPr id="7" name="card_peso_1"/>
          <p:cNvSpPr/>
          <p:nvPr/>
        </p:nvSpPr>
        <p:spPr>
          <a:xfrm>
            <a:off x="3355848" y="150876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8" name="Text 6"/>
          <p:cNvSpPr txBox="1"/>
          <p:nvPr/>
        </p:nvSpPr>
        <p:spPr>
          <a:xfrm>
            <a:off x="3584448" y="1737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2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pt-BR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−0,4</a:t>
            </a:r>
            <a:endParaRPr lang="pt-BR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3154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por reclamação registrada</a:t>
            </a:r>
            <a:endParaRPr lang="pt-BR" sz="1600" dirty="0"/>
          </a:p>
        </p:txBody>
      </p:sp>
      <p:sp>
        <p:nvSpPr>
          <p:cNvPr id="11" name="card_peso_2"/>
          <p:cNvSpPr/>
          <p:nvPr/>
        </p:nvSpPr>
        <p:spPr>
          <a:xfrm>
            <a:off x="6163056" y="150876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Text 10"/>
          <p:cNvSpPr txBox="1"/>
          <p:nvPr/>
        </p:nvSpPr>
        <p:spPr>
          <a:xfrm>
            <a:off x="6391656" y="1737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2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pt-BR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391656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−0,35</a:t>
            </a:r>
            <a:endParaRPr lang="pt-BR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391656" y="3154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por contato extra com o SAC</a:t>
            </a:r>
            <a:endParaRPr lang="pt-BR" sz="1600" dirty="0"/>
          </a:p>
        </p:txBody>
      </p:sp>
      <p:sp>
        <p:nvSpPr>
          <p:cNvPr id="15" name="card_peso_3"/>
          <p:cNvSpPr/>
          <p:nvPr/>
        </p:nvSpPr>
        <p:spPr>
          <a:xfrm>
            <a:off x="8970264" y="150876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6" name="Text 14"/>
          <p:cNvSpPr txBox="1"/>
          <p:nvPr/>
        </p:nvSpPr>
        <p:spPr>
          <a:xfrm>
            <a:off x="9198864" y="1737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200" b="1" dirty="0">
                <a:solidFill>
                  <a:srgbClr val="5B6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pt-BR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98864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800" b="1" dirty="0">
                <a:solidFill>
                  <a:srgbClr val="E349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−0,14</a:t>
            </a:r>
            <a:endParaRPr lang="pt-BR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9198864" y="3154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por dia para resolver o problema</a:t>
            </a:r>
            <a:endParaRPr lang="pt-BR" sz="1600" dirty="0"/>
          </a:p>
        </p:txBody>
      </p:sp>
      <p:sp>
        <p:nvSpPr>
          <p:cNvPr id="19" name="card_zero"/>
          <p:cNvSpPr/>
          <p:nvPr/>
        </p:nvSpPr>
        <p:spPr>
          <a:xfrm>
            <a:off x="548640" y="4526280"/>
            <a:ext cx="11091672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20" name="contorno_zero"/>
          <p:cNvSpPr/>
          <p:nvPr/>
        </p:nvSpPr>
        <p:spPr>
          <a:xfrm>
            <a:off x="548640" y="4526280"/>
            <a:ext cx="11091672" cy="1600200"/>
          </a:xfrm>
          <a:prstGeom prst="roundRect">
            <a:avLst>
              <a:gd name="adj" fmla="val 6857"/>
            </a:avLst>
          </a:prstGeom>
          <a:ln w="19050">
            <a:solidFill>
              <a:srgbClr val="D9D8D4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709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800" b="1" dirty="0">
                <a:solidFill>
                  <a:srgbClr val="8A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0</a:t>
            </a:r>
            <a:endParaRPr lang="pt-BR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2468880" y="4709160"/>
            <a:ext cx="8869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Frete, desconto, valor, parcelas, itens, tentativas, região, idade e tempo de casa não movem a nota.</a:t>
            </a:r>
            <a:endParaRPr lang="pt-BR" sz="1600" dirty="0"/>
          </a:p>
          <a:p>
            <a:pPr marL="0" indent="0">
              <a:buNone/>
            </a:pPr>
            <a:r>
              <a:rPr lang="pt-BR" sz="16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Cupom ou frete grátis não “compram” satisfação: o cliente quer a promessa cumprida.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10</a:t>
            </a:fld>
            <a:endParaRPr lang="pt-BR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3774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pt-BR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soubéssemos antes?</a:t>
            </a:r>
            <a:endParaRPr lang="pt-BR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490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1800" dirty="0">
                <a:solidFill>
                  <a:schemeClr val="accent5"/>
                </a:solidFill>
              </a:rPr>
              <a:t>Um modelo que estima a nota de cada pedido enquanto ainda dá tempo de agir</a:t>
            </a:r>
            <a:endParaRPr lang="pt-B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AB4C8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11</a:t>
            </a:fld>
            <a:endParaRPr lang="pt-BR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NPS previsto: um alerta antes da pesquisa</a:t>
            </a:r>
            <a:endParaRPr lang="pt-BR" sz="3000" dirty="0"/>
          </a:p>
        </p:txBody>
      </p:sp>
      <p:sp>
        <p:nvSpPr>
          <p:cNvPr id="3" name="card_fluxo_0"/>
          <p:cNvSpPr/>
          <p:nvPr/>
        </p:nvSpPr>
        <p:spPr>
          <a:xfrm>
            <a:off x="548640" y="150876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badge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pt-BR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do pedido em andamento</a:t>
            </a:r>
            <a:endParaRPr lang="pt-BR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004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Atraso, reclamações, contatos e tempo de resolução, atualizados a cada evento</a:t>
            </a:r>
            <a:endParaRPr lang="pt-BR" sz="1400" dirty="0"/>
          </a:p>
        </p:txBody>
      </p:sp>
      <p:sp>
        <p:nvSpPr>
          <p:cNvPr id="8" name="card_fluxo_1"/>
          <p:cNvSpPr/>
          <p:nvPr/>
        </p:nvSpPr>
        <p:spPr>
          <a:xfrm>
            <a:off x="3355848" y="150876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9" name="badge"/>
          <p:cNvSpPr/>
          <p:nvPr/>
        </p:nvSpPr>
        <p:spPr>
          <a:xfrm>
            <a:off x="3584448" y="1737360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pt-B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estima a nota</a:t>
            </a:r>
            <a:endParaRPr lang="pt-BR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32004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0 a 10, usando só o que já é conhecido antes da pesquisa</a:t>
            </a:r>
            <a:endParaRPr lang="pt-BR" sz="1400" dirty="0"/>
          </a:p>
        </p:txBody>
      </p:sp>
      <p:sp>
        <p:nvSpPr>
          <p:cNvPr id="13" name="card_fluxo_2"/>
          <p:cNvSpPr/>
          <p:nvPr/>
        </p:nvSpPr>
        <p:spPr>
          <a:xfrm>
            <a:off x="6163056" y="150876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4" name="badge"/>
          <p:cNvSpPr/>
          <p:nvPr/>
        </p:nvSpPr>
        <p:spPr>
          <a:xfrm>
            <a:off x="6391656" y="1737360"/>
            <a:ext cx="502920" cy="502920"/>
          </a:xfrm>
          <a:prstGeom prst="ellipse">
            <a:avLst/>
          </a:prstGeom>
          <a:solidFill>
            <a:srgbClr val="14213D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5" name="Text 13"/>
          <p:cNvSpPr txBox="1"/>
          <p:nvPr/>
        </p:nvSpPr>
        <p:spPr>
          <a:xfrm>
            <a:off x="6391656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pt-BR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 de risco</a:t>
            </a:r>
            <a:endParaRPr lang="pt-BR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32004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(nota &lt; 4) · Moderado (4 a 7) · Baixo (≥ 7)</a:t>
            </a:r>
            <a:endParaRPr lang="pt-BR" sz="1400" dirty="0"/>
          </a:p>
        </p:txBody>
      </p:sp>
      <p:sp>
        <p:nvSpPr>
          <p:cNvPr id="18" name="card_fluxo_3"/>
          <p:cNvSpPr/>
          <p:nvPr/>
        </p:nvSpPr>
        <p:spPr>
          <a:xfrm>
            <a:off x="8970264" y="150876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4213D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9" name="badge"/>
          <p:cNvSpPr/>
          <p:nvPr/>
        </p:nvSpPr>
        <p:spPr>
          <a:xfrm>
            <a:off x="9198864" y="1737360"/>
            <a:ext cx="502920" cy="50292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20" name="Text 18"/>
          <p:cNvSpPr txBox="1"/>
          <p:nvPr/>
        </p:nvSpPr>
        <p:spPr>
          <a:xfrm>
            <a:off x="9198864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pt-BR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 certa, na hora certa</a:t>
            </a:r>
            <a:endParaRPr lang="pt-BR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198864" y="32004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rgbClr val="D5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priorizada para o time de CX e ações automáticas</a:t>
            </a:r>
            <a:endParaRPr lang="pt-BR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262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5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 ponto</a:t>
            </a:r>
            <a:endParaRPr lang="pt-BR" sz="5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40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erro médio na nota prevista (chutar a média erraria 2,1)</a:t>
            </a:r>
            <a:endParaRPr lang="pt-BR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343400" y="45262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5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pt-BR" sz="54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5440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pedidos marcados como risco alto viraram detratores</a:t>
            </a:r>
            <a:endParaRPr lang="pt-BR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138160" y="45262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5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pt-BR" sz="54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0" y="5440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pós-pesquisa usados: CSAT e recompra ficaram de fora de propósito</a:t>
            </a:r>
            <a:endParaRPr lang="pt-BR" sz="15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12</a:t>
            </a:fld>
            <a:endParaRPr lang="pt-BR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faixas de risco apontam quem vai virar detrator</a:t>
            </a:r>
            <a:endParaRPr lang="pt-BR" sz="3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972724356"/>
              </p:ext>
            </p:extLst>
          </p:nvPr>
        </p:nvGraphicFramePr>
        <p:xfrm>
          <a:off x="548640" y="1371600"/>
          <a:ext cx="512064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card_acao_0"/>
          <p:cNvSpPr/>
          <p:nvPr/>
        </p:nvSpPr>
        <p:spPr>
          <a:xfrm>
            <a:off x="6035040" y="1463040"/>
            <a:ext cx="56052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5" name="marcador_risco"/>
          <p:cNvSpPr/>
          <p:nvPr/>
        </p:nvSpPr>
        <p:spPr>
          <a:xfrm>
            <a:off x="6263640" y="1737360"/>
            <a:ext cx="365760" cy="365760"/>
          </a:xfrm>
          <a:prstGeom prst="ellipse">
            <a:avLst/>
          </a:prstGeom>
          <a:solidFill>
            <a:srgbClr val="E34948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Text 3"/>
          <p:cNvSpPr txBox="1"/>
          <p:nvPr/>
        </p:nvSpPr>
        <p:spPr>
          <a:xfrm>
            <a:off x="681228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</a:t>
            </a:r>
            <a:endParaRPr lang="pt-BR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923544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 dos pedidos</a:t>
            </a:r>
            <a:endParaRPr lang="pt-BR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12280" y="2121408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humano imediato, solução prioritária e compensação quando fizer sentido</a:t>
            </a:r>
            <a:endParaRPr lang="pt-BR" sz="1400" dirty="0"/>
          </a:p>
        </p:txBody>
      </p:sp>
      <p:sp>
        <p:nvSpPr>
          <p:cNvPr id="9" name="card_acao_1"/>
          <p:cNvSpPr/>
          <p:nvPr/>
        </p:nvSpPr>
        <p:spPr>
          <a:xfrm>
            <a:off x="6035040" y="3035808"/>
            <a:ext cx="56052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0" name="marcador_risco"/>
          <p:cNvSpPr/>
          <p:nvPr/>
        </p:nvSpPr>
        <p:spPr>
          <a:xfrm>
            <a:off x="6263640" y="3310128"/>
            <a:ext cx="365760" cy="365760"/>
          </a:xfrm>
          <a:prstGeom prst="ellipse">
            <a:avLst/>
          </a:prstGeom>
          <a:solidFill>
            <a:srgbClr val="F0A2A1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32186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moderado</a:t>
            </a:r>
            <a:endParaRPr lang="pt-BR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32186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 dos pedidos</a:t>
            </a:r>
            <a:endParaRPr lang="pt-BR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812280" y="3694176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automáticas: aviso proativo de status, novo prazo realista, canal prioritário</a:t>
            </a:r>
            <a:endParaRPr lang="pt-BR" sz="1400" dirty="0"/>
          </a:p>
        </p:txBody>
      </p:sp>
      <p:sp>
        <p:nvSpPr>
          <p:cNvPr id="14" name="card_acao_2"/>
          <p:cNvSpPr/>
          <p:nvPr/>
        </p:nvSpPr>
        <p:spPr>
          <a:xfrm>
            <a:off x="6035040" y="4608576"/>
            <a:ext cx="56052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5" name="marcador_risco"/>
          <p:cNvSpPr/>
          <p:nvPr/>
        </p:nvSpPr>
        <p:spPr>
          <a:xfrm>
            <a:off x="6263640" y="4882896"/>
            <a:ext cx="365760" cy="365760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6" name="Text 13"/>
          <p:cNvSpPr txBox="1"/>
          <p:nvPr/>
        </p:nvSpPr>
        <p:spPr>
          <a:xfrm>
            <a:off x="6812280" y="479145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</a:t>
            </a:r>
            <a:endParaRPr lang="pt-BR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479145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4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 dos pedidos</a:t>
            </a:r>
            <a:endParaRPr lang="pt-BR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812280" y="5266944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padrão; 30% viram promotores: convite para programa de indicação</a:t>
            </a:r>
            <a:endParaRPr lang="pt-B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13</a:t>
            </a:fld>
            <a:endParaRPr lang="pt-BR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Recomendações: cumprir a promessa e evitar o 2º atrito</a:t>
            </a:r>
            <a:endParaRPr lang="pt-BR" sz="3000" dirty="0"/>
          </a:p>
        </p:txBody>
      </p:sp>
      <p:sp>
        <p:nvSpPr>
          <p:cNvPr id="3" name="card_rec_0"/>
          <p:cNvSpPr/>
          <p:nvPr/>
        </p:nvSpPr>
        <p:spPr>
          <a:xfrm>
            <a:off x="548640" y="1417320"/>
            <a:ext cx="5449824" cy="2286000"/>
          </a:xfrm>
          <a:prstGeom prst="roundRect">
            <a:avLst>
              <a:gd name="adj" fmla="val 4800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marcador_area"/>
          <p:cNvSpPr/>
          <p:nvPr/>
        </p:nvSpPr>
        <p:spPr>
          <a:xfrm>
            <a:off x="822960" y="1664208"/>
            <a:ext cx="329184" cy="329184"/>
          </a:xfrm>
          <a:prstGeom prst="ellipse">
            <a:avLst/>
          </a:prstGeom>
          <a:solidFill>
            <a:srgbClr val="E34948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Logística</a:t>
            </a:r>
            <a:endParaRPr lang="pt-B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pt-B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prometidos realistas, com folga por região e transportadora</a:t>
            </a:r>
            <a:endParaRPr lang="pt-BR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pt-B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na véspera do vencimento do prazo e prioridade para pedidos já atrasados</a:t>
            </a:r>
            <a:endParaRPr lang="pt-BR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pt-B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nenhum pedido com mais de 1 dia de atraso; ranking de transportadoras</a:t>
            </a:r>
            <a:endParaRPr lang="pt-BR" sz="1500" dirty="0"/>
          </a:p>
        </p:txBody>
      </p:sp>
      <p:sp>
        <p:nvSpPr>
          <p:cNvPr id="7" name="card_rec_1"/>
          <p:cNvSpPr/>
          <p:nvPr/>
        </p:nvSpPr>
        <p:spPr>
          <a:xfrm>
            <a:off x="6190488" y="1417320"/>
            <a:ext cx="5449824" cy="2286000"/>
          </a:xfrm>
          <a:prstGeom prst="roundRect">
            <a:avLst>
              <a:gd name="adj" fmla="val 4800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8" name="marcador_area"/>
          <p:cNvSpPr/>
          <p:nvPr/>
        </p:nvSpPr>
        <p:spPr>
          <a:xfrm>
            <a:off x="6464808" y="1664208"/>
            <a:ext cx="329184" cy="329184"/>
          </a:xfrm>
          <a:prstGeom prst="ellipse">
            <a:avLst/>
          </a:prstGeom>
          <a:solidFill>
            <a:srgbClr val="2A78D6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9" name="Text 7"/>
          <p:cNvSpPr txBox="1"/>
          <p:nvPr/>
        </p:nvSpPr>
        <p:spPr>
          <a:xfrm>
            <a:off x="6940296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</a:t>
            </a:r>
            <a:endParaRPr lang="pt-BR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64808" y="214884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pt-B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proativo no 1º dia de atraso, antes da reclamação</a:t>
            </a:r>
            <a:endParaRPr lang="pt-BR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pt-B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no 1º contato, com autonomia para compensar</a:t>
            </a:r>
            <a:endParaRPr lang="pt-BR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pt-B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reclamação = escalonamento automático; resolução em até 2 dias</a:t>
            </a:r>
            <a:endParaRPr lang="pt-BR" sz="1500" dirty="0"/>
          </a:p>
        </p:txBody>
      </p:sp>
      <p:sp>
        <p:nvSpPr>
          <p:cNvPr id="11" name="card_rec_2"/>
          <p:cNvSpPr/>
          <p:nvPr/>
        </p:nvSpPr>
        <p:spPr>
          <a:xfrm>
            <a:off x="548640" y="3886200"/>
            <a:ext cx="5449824" cy="2286000"/>
          </a:xfrm>
          <a:prstGeom prst="roundRect">
            <a:avLst>
              <a:gd name="adj" fmla="val 4800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marcador_area"/>
          <p:cNvSpPr/>
          <p:nvPr/>
        </p:nvSpPr>
        <p:spPr>
          <a:xfrm>
            <a:off x="822960" y="4133088"/>
            <a:ext cx="329184" cy="329184"/>
          </a:xfrm>
          <a:prstGeom prst="ellipse">
            <a:avLst/>
          </a:prstGeom>
          <a:solidFill>
            <a:srgbClr val="14213D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3" name="Text 11"/>
          <p:cNvSpPr txBox="1"/>
          <p:nvPr/>
        </p:nvSpPr>
        <p:spPr>
          <a:xfrm>
            <a:off x="1298448" y="4069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CX e Dados</a:t>
            </a:r>
            <a:endParaRPr lang="pt-BR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6177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pt-B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NPS previsto diário e fila priorizada por risco</a:t>
            </a:r>
            <a:endParaRPr lang="pt-BR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pt-B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Gatilhos simples já: “1 dia de atraso” e “2ª reclamação”</a:t>
            </a:r>
            <a:endParaRPr lang="pt-BR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pt-B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as ações com grupo de controle para medir o ganho real</a:t>
            </a:r>
            <a:endParaRPr lang="pt-BR" sz="1500" dirty="0"/>
          </a:p>
        </p:txBody>
      </p:sp>
      <p:sp>
        <p:nvSpPr>
          <p:cNvPr id="15" name="card_rec_3"/>
          <p:cNvSpPr/>
          <p:nvPr/>
        </p:nvSpPr>
        <p:spPr>
          <a:xfrm>
            <a:off x="6190488" y="3886200"/>
            <a:ext cx="5449824" cy="2286000"/>
          </a:xfrm>
          <a:prstGeom prst="roundRect">
            <a:avLst>
              <a:gd name="adj" fmla="val 4800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6" name="marcador_area"/>
          <p:cNvSpPr/>
          <p:nvPr/>
        </p:nvSpPr>
        <p:spPr>
          <a:xfrm>
            <a:off x="6464808" y="4133088"/>
            <a:ext cx="329184" cy="329184"/>
          </a:xfrm>
          <a:prstGeom prst="ellipse">
            <a:avLst/>
          </a:prstGeom>
          <a:solidFill>
            <a:srgbClr val="8A8780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7" name="Text 15"/>
          <p:cNvSpPr txBox="1"/>
          <p:nvPr/>
        </p:nvSpPr>
        <p:spPr>
          <a:xfrm>
            <a:off x="6940296" y="4069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 e Produto</a:t>
            </a:r>
            <a:endParaRPr lang="pt-BR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46177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pt-B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usar cupom ou frete grátis como principal remédio</a:t>
            </a:r>
            <a:endParaRPr lang="pt-BR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pt-B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produto, </a:t>
            </a:r>
            <a:r>
              <a:rPr lang="pt-BR" sz="15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</a:t>
            </a:r>
            <a:r>
              <a:rPr lang="pt-B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canal da reclamação</a:t>
            </a:r>
            <a:endParaRPr lang="pt-BR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pt-B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Investigar a causa raiz dos produtos mais reclamados</a:t>
            </a:r>
            <a:endParaRPr lang="pt-B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14</a:t>
            </a:fld>
            <a:endParaRPr lang="pt-BR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Potencial estimado: até +25 pontos de NPS</a:t>
            </a:r>
            <a:endParaRPr lang="pt-BR" sz="3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56925469"/>
              </p:ext>
            </p:extLst>
          </p:nvPr>
        </p:nvGraphicFramePr>
        <p:xfrm>
          <a:off x="548640" y="1371600"/>
          <a:ext cx="58521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300" dirty="0">
                <a:solidFill>
                  <a:srgbClr val="5B61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a partir do efeito de cada fator; estimativa, não garantia.</a:t>
            </a:r>
            <a:endParaRPr lang="pt-BR" sz="1300" dirty="0"/>
          </a:p>
        </p:txBody>
      </p:sp>
      <p:sp>
        <p:nvSpPr>
          <p:cNvPr id="5" name="card_roadmap_0"/>
          <p:cNvSpPr/>
          <p:nvPr/>
        </p:nvSpPr>
        <p:spPr>
          <a:xfrm>
            <a:off x="6720840" y="1463040"/>
            <a:ext cx="49194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1645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0–30 dias</a:t>
            </a:r>
            <a:endParaRPr lang="pt-BR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Ganhos rápidos</a:t>
            </a:r>
            <a:endParaRPr lang="pt-BR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12140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Gatilhos de 1º atraso e 2ª reclamação; aviso proativo; revisão dos prazos prometidos</a:t>
            </a:r>
            <a:endParaRPr lang="pt-BR" sz="1400" dirty="0"/>
          </a:p>
        </p:txBody>
      </p:sp>
      <p:sp>
        <p:nvSpPr>
          <p:cNvPr id="9" name="card_roadmap_1"/>
          <p:cNvSpPr/>
          <p:nvPr/>
        </p:nvSpPr>
        <p:spPr>
          <a:xfrm>
            <a:off x="6720840" y="3035808"/>
            <a:ext cx="49194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321868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30–90 dias</a:t>
            </a:r>
            <a:endParaRPr lang="pt-BR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366760" y="3218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do modelo</a:t>
            </a:r>
            <a:endParaRPr lang="pt-BR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3694176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por risco em uma região, com teste A/</a:t>
            </a:r>
            <a:r>
              <a:rPr lang="pt-BR" sz="1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(grupo de controle) para medir o efeito</a:t>
            </a:r>
            <a:endParaRPr lang="pt-BR" sz="1400" dirty="0"/>
          </a:p>
        </p:txBody>
      </p:sp>
      <p:sp>
        <p:nvSpPr>
          <p:cNvPr id="13" name="card_roadmap_2"/>
          <p:cNvSpPr/>
          <p:nvPr/>
        </p:nvSpPr>
        <p:spPr>
          <a:xfrm>
            <a:off x="6720840" y="4608576"/>
            <a:ext cx="4919472" cy="13716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479145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90+ dias</a:t>
            </a:r>
            <a:endParaRPr lang="pt-BR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366760" y="479145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pt-BR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5266944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NPS previsto, </a:t>
            </a:r>
            <a:r>
              <a:rPr lang="pt-BR" sz="1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re-treino</a:t>
            </a: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mensal e dados novos (produto, transportadora)</a:t>
            </a:r>
            <a:endParaRPr lang="pt-B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15</a:t>
            </a:fld>
            <a:endParaRPr lang="pt-BR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e cuidados no uso dos resultados</a:t>
            </a:r>
            <a:endParaRPr lang="pt-BR" sz="3000" dirty="0"/>
          </a:p>
        </p:txBody>
      </p:sp>
      <p:sp>
        <p:nvSpPr>
          <p:cNvPr id="3" name="card_lim_0"/>
          <p:cNvSpPr/>
          <p:nvPr/>
        </p:nvSpPr>
        <p:spPr>
          <a:xfrm>
            <a:off x="548640" y="14173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badge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4213D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pt-BR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002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Correlação não é causa</a:t>
            </a:r>
            <a:endParaRPr lang="pt-BR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57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mostram associações. As ações devem ser validadas com teste A/</a:t>
            </a:r>
            <a:r>
              <a:rPr lang="pt-BR" sz="14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antes de escalar.</a:t>
            </a:r>
            <a:endParaRPr lang="pt-BR" sz="1400" dirty="0"/>
          </a:p>
        </p:txBody>
      </p:sp>
      <p:sp>
        <p:nvSpPr>
          <p:cNvPr id="8" name="card_lim_1"/>
          <p:cNvSpPr/>
          <p:nvPr/>
        </p:nvSpPr>
        <p:spPr>
          <a:xfrm>
            <a:off x="6190488" y="14173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9" name="badge"/>
          <p:cNvSpPr/>
          <p:nvPr/>
        </p:nvSpPr>
        <p:spPr>
          <a:xfrm>
            <a:off x="6419088" y="1645920"/>
            <a:ext cx="457200" cy="457200"/>
          </a:xfrm>
          <a:prstGeom prst="ellipse">
            <a:avLst/>
          </a:prstGeom>
          <a:solidFill>
            <a:srgbClr val="14213D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0" name="Text 8"/>
          <p:cNvSpPr txBox="1"/>
          <p:nvPr/>
        </p:nvSpPr>
        <p:spPr>
          <a:xfrm>
            <a:off x="641908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pt-B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59168" y="16002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é um alerta, não uma sentença</a:t>
            </a:r>
            <a:endParaRPr lang="pt-BR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59168" y="2057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cerca de metade da variação da nota. Expectativa, produto e contexto do cliente não estão na base.</a:t>
            </a:r>
            <a:endParaRPr lang="pt-BR" sz="1400" dirty="0"/>
          </a:p>
        </p:txBody>
      </p:sp>
      <p:sp>
        <p:nvSpPr>
          <p:cNvPr id="13" name="card_lim_2"/>
          <p:cNvSpPr/>
          <p:nvPr/>
        </p:nvSpPr>
        <p:spPr>
          <a:xfrm>
            <a:off x="548640" y="30175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4" name="badge"/>
          <p:cNvSpPr/>
          <p:nvPr/>
        </p:nvSpPr>
        <p:spPr>
          <a:xfrm>
            <a:off x="777240" y="3246120"/>
            <a:ext cx="457200" cy="457200"/>
          </a:xfrm>
          <a:prstGeom prst="ellipse">
            <a:avLst/>
          </a:prstGeom>
          <a:solidFill>
            <a:srgbClr val="14213D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pt-BR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2004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Faltam dados importantes</a:t>
            </a:r>
            <a:endParaRPr lang="pt-BR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6576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datas, produto, transportadora, canal ou texto das reclamações. Algumas definições têm inconsistências.</a:t>
            </a:r>
            <a:endParaRPr lang="pt-BR" sz="1400" dirty="0"/>
          </a:p>
        </p:txBody>
      </p:sp>
      <p:sp>
        <p:nvSpPr>
          <p:cNvPr id="18" name="card_lim_3"/>
          <p:cNvSpPr/>
          <p:nvPr/>
        </p:nvSpPr>
        <p:spPr>
          <a:xfrm>
            <a:off x="6190488" y="30175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9" name="badge"/>
          <p:cNvSpPr/>
          <p:nvPr/>
        </p:nvSpPr>
        <p:spPr>
          <a:xfrm>
            <a:off x="6419088" y="3246120"/>
            <a:ext cx="457200" cy="457200"/>
          </a:xfrm>
          <a:prstGeom prst="ellipse">
            <a:avLst/>
          </a:prstGeom>
          <a:solidFill>
            <a:srgbClr val="8A8780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20" name="Text 18"/>
          <p:cNvSpPr txBox="1"/>
          <p:nvPr/>
        </p:nvSpPr>
        <p:spPr>
          <a:xfrm>
            <a:off x="6419088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pt-BR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059168" y="32004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Viés da pesquisa</a:t>
            </a:r>
            <a:endParaRPr lang="pt-BR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59168" y="36576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quem respondeu está na base, e quem responde costuma estar nos extremos.</a:t>
            </a:r>
            <a:endParaRPr lang="pt-BR" sz="1400" dirty="0"/>
          </a:p>
        </p:txBody>
      </p:sp>
      <p:sp>
        <p:nvSpPr>
          <p:cNvPr id="23" name="card_lim_4"/>
          <p:cNvSpPr/>
          <p:nvPr/>
        </p:nvSpPr>
        <p:spPr>
          <a:xfrm>
            <a:off x="548640" y="46177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24" name="badge"/>
          <p:cNvSpPr/>
          <p:nvPr/>
        </p:nvSpPr>
        <p:spPr>
          <a:xfrm>
            <a:off x="777240" y="4846320"/>
            <a:ext cx="457200" cy="457200"/>
          </a:xfrm>
          <a:prstGeom prst="ellipse">
            <a:avLst/>
          </a:prstGeom>
          <a:solidFill>
            <a:srgbClr val="8A8780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pt-BR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8006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não deve virar meta individual</a:t>
            </a:r>
            <a:endParaRPr lang="pt-BR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2578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 atrelado à nota incentiva filtrar ou pressionar quem responde, e a métrica perde valor.</a:t>
            </a:r>
            <a:endParaRPr lang="pt-BR" sz="1400" dirty="0"/>
          </a:p>
        </p:txBody>
      </p:sp>
      <p:sp>
        <p:nvSpPr>
          <p:cNvPr id="28" name="card_lim_5"/>
          <p:cNvSpPr/>
          <p:nvPr/>
        </p:nvSpPr>
        <p:spPr>
          <a:xfrm>
            <a:off x="6190488" y="4617720"/>
            <a:ext cx="5449824" cy="1417320"/>
          </a:xfrm>
          <a:prstGeom prst="roundRect">
            <a:avLst>
              <a:gd name="adj" fmla="val 7742"/>
            </a:avLst>
          </a:prstGeom>
          <a:solidFill>
            <a:srgbClr val="F2F3F5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29" name="badge"/>
          <p:cNvSpPr/>
          <p:nvPr/>
        </p:nvSpPr>
        <p:spPr>
          <a:xfrm>
            <a:off x="6419088" y="4846320"/>
            <a:ext cx="457200" cy="457200"/>
          </a:xfrm>
          <a:prstGeom prst="ellipse">
            <a:avLst/>
          </a:prstGeom>
          <a:solidFill>
            <a:srgbClr val="8A8780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0" name="Text 28"/>
          <p:cNvSpPr txBox="1"/>
          <p:nvPr/>
        </p:nvSpPr>
        <p:spPr>
          <a:xfrm>
            <a:off x="6419088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pt-BR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059168" y="48006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ético da previsão</a:t>
            </a:r>
            <a:endParaRPr lang="pt-BR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52578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previsão serve para cuidar melhor de quem está em risco, nunca para tratar pior quem “vai reclamar”.</a:t>
            </a:r>
            <a:endParaRPr lang="pt-BR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170"/>
                </a:solidFill>
              </a:defRPr>
            </a:lvl1pPr>
          </a:lstStyle>
          <a:p>
            <a:pPr algn="r"/>
            <a:fld id="{F7021451-1387-4CA6-816F-3879F97B5CBC}" type="slidenum">
              <a:rPr lang="pt-BR" b="0" smtClean="0"/>
              <a:t>16</a:t>
            </a:fld>
            <a:endParaRPr lang="pt-BR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8288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pt-BR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Satisfação se perde na promessa quebrada e no segundo atrito</a:t>
            </a:r>
            <a:endParaRPr lang="pt-BR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033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BR" sz="2000" dirty="0">
                <a:solidFill>
                  <a:schemeClr val="accent5"/>
                </a:solidFill>
              </a:rPr>
              <a:t>1. O atraso é o fator nº 1: o 1º dia já quebra a confiança.</a:t>
            </a:r>
            <a:endParaRPr lang="pt-BR" sz="2000" dirty="0"/>
          </a:p>
          <a:p>
            <a:pPr marL="0" indent="0">
              <a:buNone/>
            </a:pPr>
            <a:r>
              <a:rPr lang="pt-BR" sz="2000" dirty="0">
                <a:solidFill>
                  <a:schemeClr val="accent5"/>
                </a:solidFill>
              </a:rPr>
              <a:t>2. A 2ª reclamação é o segundo ponto de ruptura.</a:t>
            </a:r>
            <a:endParaRPr lang="pt-BR" sz="2000" dirty="0"/>
          </a:p>
          <a:p>
            <a:pPr marL="0" indent="0">
              <a:buNone/>
            </a:pPr>
            <a:r>
              <a:rPr lang="pt-BR" sz="2000" dirty="0">
                <a:solidFill>
                  <a:schemeClr val="accent5"/>
                </a:solidFill>
              </a:rPr>
              <a:t>3. Com o NPS previsto, dá para agir antes da pesquisa.</a:t>
            </a:r>
            <a:endParaRPr lang="pt-BR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4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 ·  </a:t>
            </a:r>
            <a:r>
              <a:rPr lang="pt-BR" sz="1400" dirty="0" err="1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</a:t>
            </a:r>
            <a:r>
              <a:rPr lang="pt-BR" sz="14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pt-BR" sz="1400" dirty="0" err="1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ricardowalendorff</a:t>
            </a:r>
            <a:r>
              <a:rPr lang="pt-BR" sz="1400" dirty="0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pt-BR" sz="1400" dirty="0" err="1">
                <a:solidFill>
                  <a:srgbClr val="AA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Case_preditivo_NPS</a:t>
            </a:r>
            <a:endParaRPr lang="pt-BR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PS Preditivo">
  <a:themeElements>
    <a:clrScheme name="NPS Preditivo">
      <a:dk1>
        <a:srgbClr val="1F2430"/>
      </a:dk1>
      <a:lt1>
        <a:srgbClr val="FFFFFF"/>
      </a:lt1>
      <a:dk2>
        <a:srgbClr val="14213D"/>
      </a:dk2>
      <a:lt2>
        <a:srgbClr val="F2F3F5"/>
      </a:lt2>
      <a:accent1>
        <a:srgbClr val="2A78D6"/>
      </a:accent1>
      <a:accent2>
        <a:srgbClr val="E34948"/>
      </a:accent2>
      <a:accent3>
        <a:srgbClr val="8A8780"/>
      </a:accent3>
      <a:accent4>
        <a:srgbClr val="F0A2A1"/>
      </a:accent4>
      <a:accent5>
        <a:srgbClr val="CDE2FB"/>
      </a:accent5>
      <a:accent6>
        <a:srgbClr val="EDA100"/>
      </a:accent6>
      <a:hlink>
        <a:srgbClr val="2A78D6"/>
      </a:hlink>
      <a:folHlink>
        <a:srgbClr val="4A3AA7"/>
      </a:folHlink>
    </a:clrScheme>
    <a:fontScheme name="NPS Preditiv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2460</Words>
  <Application>Microsoft Macintosh PowerPoint</Application>
  <PresentationFormat>Widescreen</PresentationFormat>
  <Paragraphs>253</Paragraphs>
  <Slides>17</Slides>
  <Notes>17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0" baseType="lpstr">
      <vt:lpstr>Arial</vt:lpstr>
      <vt:lpstr>Calibri</vt:lpstr>
      <vt:lpstr>NPS Preditivo</vt:lpstr>
      <vt:lpstr>Do retrovisor ao para-brisa: antecipando a satisfação do cliente</vt:lpstr>
      <vt:lpstr>O NPS chega tarde demais para salvar a experiência</vt:lpstr>
      <vt:lpstr>Duas perguntas guiaram o trabalho</vt:lpstr>
      <vt:lpstr>Quatro fatores explicam a satisfação e o atraso lidera</vt:lpstr>
      <vt:lpstr>O 1º dia de atraso é o ponto de ruptura</vt:lpstr>
      <vt:lpstr>O cliente aceita esperar, mas não aceita a promessa quebrada</vt:lpstr>
      <vt:lpstr>A 2ª reclamação é o segundo ponto de ruptura</vt:lpstr>
      <vt:lpstr>Quando os problemas se somam, a nota cai de 8 para 1</vt:lpstr>
      <vt:lpstr>Não importa quem é o cliente, importa o que ele vive</vt:lpstr>
      <vt:lpstr>Quanto cada atrito custa na nota do cliente</vt:lpstr>
      <vt:lpstr>E se soubéssemos antes?</vt:lpstr>
      <vt:lpstr>O NPS previsto: um alerta antes da pesquisa</vt:lpstr>
      <vt:lpstr>As faixas de risco apontam quem vai virar detrator</vt:lpstr>
      <vt:lpstr>Recomendações: cumprir a promessa e evitar o 2º atrito</vt:lpstr>
      <vt:lpstr>Potencial estimado: até +25 pontos de NPS</vt:lpstr>
      <vt:lpstr>Limitações e cuidados no uso dos resultados</vt:lpstr>
      <vt:lpstr>Satisfação se perde na promessa quebrada e no segundo atrito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Preditivo de NPS</dc:title>
  <dc:subject>PptxGenJS Presentation</dc:subject>
  <dc:creator>Ricardo Fritsch Walendorff (RM378526) e Chrystopher Alves (RM377391)</dc:creator>
  <cp:lastModifiedBy>Ricardo Walendorff</cp:lastModifiedBy>
  <cp:revision>2</cp:revision>
  <dcterms:created xsi:type="dcterms:W3CDTF">2026-10-12T21:45:28Z</dcterms:created>
  <dcterms:modified xsi:type="dcterms:W3CDTF">2026-10-29T22:37:58Z</dcterms:modified>
</cp:coreProperties>
</file>